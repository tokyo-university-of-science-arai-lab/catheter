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平均誤差(mm)</c:v>
                </c:pt>
              </c:strCache>
            </c:strRef>
          </c:tx>
          <c:spPr>
            <a:solidFill>
              <a:srgbClr val="2A78D6"/>
            </a:solidFill>
          </c:spPr>
          <c:dPt>
            <c:idx val="0"/>
            <c:spPr>
              <a:solidFill>
                <a:srgbClr val="D03B3B"/>
              </a:solidFill>
            </c:spPr>
          </c:dPt>
          <c:dPt>
            <c:idx val="1"/>
            <c:spPr>
              <a:solidFill>
                <a:srgbClr val="D03B3B"/>
              </a:solidFill>
            </c:spPr>
          </c:dPt>
          <c:dPt>
            <c:idx val="2"/>
            <c:spPr>
              <a:solidFill>
                <a:srgbClr val="D03B3B"/>
              </a:solidFill>
            </c:spPr>
          </c:dPt>
          <c:dPt>
            <c:idx val="3"/>
            <c:spPr>
              <a:solidFill>
                <a:srgbClr val="B8860A"/>
              </a:solidFill>
            </c:spPr>
          </c:dPt>
          <c:dPt>
            <c:idx val="4"/>
            <c:spPr>
              <a:solidFill>
                <a:srgbClr val="0CA30C"/>
              </a:solidFill>
            </c:spPr>
          </c:dPt>
          <c:dPt>
            <c:idx val="5"/>
            <c:spPr>
              <a:solidFill>
                <a:srgbClr val="0CA30C"/>
              </a:solidFill>
            </c:spPr>
          </c:dPt>
          <c:dPt>
            <c:idx val="6"/>
            <c:spPr>
              <a:solidFill>
                <a:srgbClr val="0CA30C"/>
              </a:solidFill>
            </c:spPr>
          </c:dPt>
          <c:dPt>
            <c:idx val="7"/>
            <c:spPr>
              <a:solidFill>
                <a:srgbClr val="0CA30C"/>
              </a:solidFill>
            </c:spPr>
          </c:dPt>
          <c:dPt>
            <c:idx val="8"/>
            <c:spPr>
              <a:solidFill>
                <a:srgbClr val="0CA30C"/>
              </a:solidFill>
            </c:spPr>
          </c:dPt>
          <c:dPt>
            <c:idx val="9"/>
            <c:spPr>
              <a:solidFill>
                <a:srgbClr val="0CA30C"/>
              </a:solidFill>
            </c:spPr>
          </c:dPt>
          <c:cat>
            <c:strRef>
              <c:f>Sheet1!$A$2:$A$11</c:f>
              <c:strCache>
                <c:ptCount val="10"/>
                <c:pt idx="0">
                  <c:v>stryker UPN</c:v>
                </c:pt>
                <c:pt idx="1">
                  <c:v>Medtronic Riptide</c:v>
                </c:pt>
                <c:pt idx="2">
                  <c:v>Eccelsior® XT-27</c:v>
                </c:pt>
                <c:pt idx="3">
                  <c:v>Surpass Evolve</c:v>
                </c:pt>
                <c:pt idx="4">
                  <c:v>Target XL®</c:v>
                </c:pt>
                <c:pt idx="5">
                  <c:v>TransForm</c:v>
                </c:pt>
                <c:pt idx="6">
                  <c:v>AXS Vecta® 46</c:v>
                </c:pt>
                <c:pt idx="7">
                  <c:v>Medtronic Phenom 21</c:v>
                </c:pt>
                <c:pt idx="8">
                  <c:v>Synchro SELECT</c:v>
                </c:pt>
                <c:pt idx="9">
                  <c:v>pNOVUS 17</c:v>
                </c:pt>
              </c:strCache>
            </c:strRef>
          </c:cat>
          <c:val>
            <c:numRef>
              <c:f>Sheet1!$B$2:$B$11</c:f>
              <c:numCache>
                <c:formatCode>General</c:formatCode>
                <c:ptCount val="10"/>
                <c:pt idx="0">
                  <c:v>20.27</c:v>
                </c:pt>
                <c:pt idx="1">
                  <c:v>10.13</c:v>
                </c:pt>
                <c:pt idx="2">
                  <c:v>10.02</c:v>
                </c:pt>
                <c:pt idx="3">
                  <c:v>2.91</c:v>
                </c:pt>
                <c:pt idx="4">
                  <c:v>2.32</c:v>
                </c:pt>
                <c:pt idx="5">
                  <c:v>2.09</c:v>
                </c:pt>
                <c:pt idx="6">
                  <c:v>1.4</c:v>
                </c:pt>
                <c:pt idx="7">
                  <c:v>1.31</c:v>
                </c:pt>
                <c:pt idx="8">
                  <c:v>1.19</c:v>
                </c:pt>
                <c:pt idx="9">
                  <c:v>1.12</c:v>
                </c:pt>
              </c:numCache>
            </c:numRef>
          </c:val>
        </c:ser>
        <c:dLbls>
          <c:numFmt formatCode="0.00&quot;mm&quot;" sourceLinked="0"/>
          <c:txPr>
            <a:bodyPr/>
            <a:lstStyle/>
            <a:p>
              <a:pPr>
                <a:defRPr sz="1100">
                  <a:solidFill>
                    <a:srgbClr val="131A20"/>
                  </a:solidFill>
                  <a:latin typeface="Consolas"/>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7DEE1"/>
            </a:solidFill>
          </a:ln>
        </c:spPr>
        <c:txPr>
          <a:bodyPr/>
          <a:lstStyle/>
          <a:p>
            <a:pPr>
              <a:defRPr sz="1200">
                <a:latin typeface="Calibri"/>
              </a:defRPr>
            </a:pPr>
          </a:p>
        </c:txPr>
        <c:crossAx val="-2113994440"/>
        <c:crosses val="autoZero"/>
        <c:auto val="1"/>
        <c:lblAlgn val="ctr"/>
        <c:lblOffset val="100"/>
        <c:noMultiLvlLbl val="0"/>
      </c:catAx>
      <c:valAx>
        <c:axId val="-2113994440"/>
        <c:scaling>
          <c:max val="22.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件数</c:v>
                </c:pt>
              </c:strCache>
            </c:strRef>
          </c:tx>
          <c:dPt>
            <c:idx val="0"/>
            <c:spPr>
              <a:solidFill>
                <a:srgbClr val="4A3AA7"/>
              </a:solidFill>
            </c:spPr>
          </c:dPt>
          <c:dPt>
            <c:idx val="1"/>
            <c:spPr>
              <a:solidFill>
                <a:srgbClr val="2A78D6"/>
              </a:solidFill>
            </c:spPr>
          </c:dPt>
          <c:dPt>
            <c:idx val="2"/>
            <c:spPr>
              <a:solidFill>
                <a:srgbClr val="1BAF7A"/>
              </a:solidFill>
            </c:spPr>
          </c:dPt>
          <c:cat>
            <c:strRef>
              <c:f>Sheet1!$A$2:$A$4</c:f>
              <c:strCache>
                <c:ptCount val="3"/>
                <c:pt idx="0">
                  <c:v>② マスク選択（入口）が原因</c:v>
                </c:pt>
                <c:pt idx="1">
                  <c:v>① 最終計算（出口）が原因</c:v>
                </c:pt>
                <c:pt idx="2">
                  <c:v>③ 複合（両方が寄与）</c:v>
                </c:pt>
              </c:strCache>
            </c:strRef>
          </c:cat>
          <c:val>
            <c:numRef>
              <c:f>Sheet1!$B$2:$B$4</c:f>
              <c:numCache>
                <c:formatCode>General</c:formatCode>
                <c:ptCount val="3"/>
                <c:pt idx="0">
                  <c:v>14</c:v>
                </c:pt>
                <c:pt idx="1">
                  <c:v>9</c:v>
                </c:pt>
                <c:pt idx="2">
                  <c:v>9</c:v>
                </c:pt>
              </c:numCache>
            </c:numRef>
          </c:val>
        </c:ser>
        <c:dLbls>
          <c:numFmt formatCode="0&quot;件&quot;" sourceLinked="0"/>
          <c:txPr>
            <a:bodyPr/>
            <a:lstStyle/>
            <a:p>
              <a:pPr>
                <a:defRPr sz="1300" b="1">
                  <a:solidFill>
                    <a:srgbClr val="131A20"/>
                  </a:solidFill>
                  <a:latin typeface="Consolas"/>
                </a:defRPr>
              </a:pPr>
            </a:p>
          </c:txPr>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l"/>
        <c:majorTickMark val="out"/>
        <c:minorTickMark val="none"/>
        <c:tickLblPos val="nextTo"/>
        <c:spPr>
          <a:ln>
            <a:solidFill>
              <a:srgbClr val="D7DEE1"/>
            </a:solidFill>
          </a:ln>
        </c:spPr>
        <c:txPr>
          <a:bodyPr/>
          <a:lstStyle/>
          <a:p>
            <a:pPr>
              <a:defRPr sz="1300">
                <a:latin typeface="Calibri"/>
              </a:defRPr>
            </a:pPr>
          </a:p>
        </c:txPr>
        <c:crossAx val="-2113994440"/>
        <c:crosses val="autoZero"/>
        <c:auto val="1"/>
        <c:lblAlgn val="ctr"/>
        <c:lblOffset val="100"/>
        <c:noMultiLvlLbl val="0"/>
      </c:catAx>
      <c:valAx>
        <c:axId val="-2113994440"/>
        <c:scaling>
          <c:max val="16.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868680"/>
            <a:ext cx="8229600" cy="365760"/>
          </a:xfrm>
          <a:prstGeom prst="rect">
            <a:avLst/>
          </a:prstGeom>
          <a:noFill/>
        </p:spPr>
        <p:txBody>
          <a:bodyPr wrap="square" lIns="0" rIns="0" tIns="0" bIns="0">
            <a:spAutoFit/>
          </a:bodyPr>
          <a:lstStyle/>
          <a:p>
            <a:pPr algn="l">
              <a:lnSpc>
                <a:spcPct val="115000"/>
              </a:lnSpc>
            </a:pPr>
            <a:r>
              <a:rPr sz="1200" b="1" i="0">
                <a:solidFill>
                  <a:srgbClr val="58666F"/>
                </a:solidFill>
                <a:latin typeface="Consolas"/>
              </a:rPr>
              <a:t>INTERNAL INVESTIGATION REPORT  ·  2026-07-09  ·  未修正 / 原因特定フェーズ</a:t>
            </a:r>
          </a:p>
        </p:txBody>
      </p:sp>
      <p:sp>
        <p:nvSpPr>
          <p:cNvPr id="5" name="TextBox 4"/>
          <p:cNvSpPr txBox="1"/>
          <p:nvPr/>
        </p:nvSpPr>
        <p:spPr>
          <a:xfrm>
            <a:off x="502920" y="1417320"/>
            <a:ext cx="10515600" cy="2011680"/>
          </a:xfrm>
          <a:prstGeom prst="rect">
            <a:avLst/>
          </a:prstGeom>
          <a:noFill/>
        </p:spPr>
        <p:txBody>
          <a:bodyPr wrap="square" lIns="0" rIns="0" tIns="0" bIns="0">
            <a:spAutoFit/>
          </a:bodyPr>
          <a:lstStyle/>
          <a:p>
            <a:pPr algn="l">
              <a:lnSpc>
                <a:spcPct val="108000"/>
              </a:lnSpc>
            </a:pPr>
            <a:r>
              <a:rPr sz="4000" b="1" i="0">
                <a:solidFill>
                  <a:srgbClr val="131A20"/>
                </a:solidFill>
                <a:latin typeface="Georgia"/>
              </a:rPr>
              <a:t>なぜロボットは本の幅を</a:t>
            </a:r>
          </a:p>
          <a:p>
            <a:pPr algn="l">
              <a:lnSpc>
                <a:spcPct val="108000"/>
              </a:lnSpc>
            </a:pPr>
            <a:r>
              <a:rPr sz="4000" b="1" i="0">
                <a:solidFill>
                  <a:srgbClr val="131A20"/>
                </a:solidFill>
                <a:latin typeface="Georgia"/>
              </a:rPr>
              <a:t>2倍に誤認識するのか</a:t>
            </a:r>
          </a:p>
        </p:txBody>
      </p:sp>
      <p:sp>
        <p:nvSpPr>
          <p:cNvPr id="6" name="TextBox 5"/>
          <p:cNvSpPr txBox="1"/>
          <p:nvPr/>
        </p:nvSpPr>
        <p:spPr>
          <a:xfrm>
            <a:off x="502920" y="3246120"/>
            <a:ext cx="9692640" cy="914400"/>
          </a:xfrm>
          <a:prstGeom prst="rect">
            <a:avLst/>
          </a:prstGeom>
          <a:noFill/>
        </p:spPr>
        <p:txBody>
          <a:bodyPr wrap="square" lIns="0" rIns="0" tIns="0" bIns="0">
            <a:spAutoFit/>
          </a:bodyPr>
          <a:lstStyle/>
          <a:p>
            <a:pPr algn="l">
              <a:lnSpc>
                <a:spcPct val="135000"/>
              </a:lnSpc>
            </a:pPr>
            <a:r>
              <a:rPr sz="1600" b="0" i="0">
                <a:solidFill>
                  <a:srgbClr val="3A464E"/>
                </a:solidFill>
                <a:latin typeface="Calibri"/>
              </a:rPr>
              <a:t>書籍取り出しロボットの開口幅推定を100ケースでオフライン評価したところ、</a:t>
            </a:r>
          </a:p>
          <a:p>
            <a:pPr algn="l">
              <a:lnSpc>
                <a:spcPct val="135000"/>
              </a:lnSpc>
            </a:pPr>
            <a:r>
              <a:rPr sz="1600" b="0" i="0">
                <a:solidFill>
                  <a:srgbClr val="3A464E"/>
                </a:solidFill>
                <a:latin typeface="Calibri"/>
              </a:rPr>
              <a:t>3割強のケースで誤差2mm以上が発生した。原因を認識パイプラインの</a:t>
            </a:r>
          </a:p>
          <a:p>
            <a:pPr algn="l">
              <a:lnSpc>
                <a:spcPct val="135000"/>
              </a:lnSpc>
            </a:pPr>
            <a:r>
              <a:rPr sz="1600" b="0" i="0">
                <a:solidFill>
                  <a:srgbClr val="3A464E"/>
                </a:solidFill>
                <a:latin typeface="Calibri"/>
              </a:rPr>
              <a:t>各工程まで遡って特定したので報告する。</a:t>
            </a:r>
          </a:p>
        </p:txBody>
      </p:sp>
      <p:cxnSp>
        <p:nvCxnSpPr>
          <p:cNvPr id="7" name="Connector 6"/>
          <p:cNvCxnSpPr/>
          <p:nvPr/>
        </p:nvCxnSpPr>
        <p:spPr>
          <a:xfrm>
            <a:off x="502920" y="5120640"/>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5257800"/>
            <a:ext cx="3383280" cy="274320"/>
          </a:xfrm>
          <a:prstGeom prst="rect">
            <a:avLst/>
          </a:prstGeom>
          <a:noFill/>
        </p:spPr>
        <p:txBody>
          <a:bodyPr wrap="square" lIns="0" rIns="0" tIns="0" bIns="0">
            <a:spAutoFit/>
          </a:bodyPr>
          <a:lstStyle/>
          <a:p>
            <a:pPr algn="l">
              <a:lnSpc>
                <a:spcPct val="115000"/>
              </a:lnSpc>
            </a:pPr>
            <a:r>
              <a:rPr sz="1000" b="1" i="0">
                <a:solidFill>
                  <a:srgbClr val="58666F"/>
                </a:solidFill>
                <a:latin typeface="Consolas"/>
              </a:rPr>
              <a:t>対象システム</a:t>
            </a:r>
          </a:p>
        </p:txBody>
      </p:sp>
      <p:sp>
        <p:nvSpPr>
          <p:cNvPr id="9" name="TextBox 8"/>
          <p:cNvSpPr txBox="1"/>
          <p:nvPr/>
        </p:nvSpPr>
        <p:spPr>
          <a:xfrm>
            <a:off x="502920" y="5532120"/>
            <a:ext cx="3383280" cy="548640"/>
          </a:xfrm>
          <a:prstGeom prst="rect">
            <a:avLst/>
          </a:prstGeom>
          <a:noFill/>
        </p:spPr>
        <p:txBody>
          <a:bodyPr wrap="square" lIns="0" rIns="0" tIns="0" bIns="0">
            <a:spAutoFit/>
          </a:bodyPr>
          <a:lstStyle/>
          <a:p>
            <a:pPr algn="l">
              <a:lnSpc>
                <a:spcPct val="115000"/>
              </a:lnSpc>
            </a:pPr>
            <a:r>
              <a:rPr sz="1200" b="0" i="0">
                <a:solidFill>
                  <a:srgbClr val="3A464E"/>
                </a:solidFill>
                <a:latin typeface="Calibri"/>
              </a:rPr>
              <a:t>RealSense D435i + SAM2 + PaddleOCR 書籍幅推定</a:t>
            </a:r>
          </a:p>
        </p:txBody>
      </p:sp>
      <p:sp>
        <p:nvSpPr>
          <p:cNvPr id="10" name="TextBox 9"/>
          <p:cNvSpPr txBox="1"/>
          <p:nvPr/>
        </p:nvSpPr>
        <p:spPr>
          <a:xfrm>
            <a:off x="4069080" y="5257800"/>
            <a:ext cx="3383280" cy="274320"/>
          </a:xfrm>
          <a:prstGeom prst="rect">
            <a:avLst/>
          </a:prstGeom>
          <a:noFill/>
        </p:spPr>
        <p:txBody>
          <a:bodyPr wrap="square" lIns="0" rIns="0" tIns="0" bIns="0">
            <a:spAutoFit/>
          </a:bodyPr>
          <a:lstStyle/>
          <a:p>
            <a:pPr algn="l">
              <a:lnSpc>
                <a:spcPct val="115000"/>
              </a:lnSpc>
            </a:pPr>
            <a:r>
              <a:rPr sz="1000" b="1" i="0">
                <a:solidFill>
                  <a:srgbClr val="58666F"/>
                </a:solidFill>
                <a:latin typeface="Consolas"/>
              </a:rPr>
              <a:t>評価データ</a:t>
            </a:r>
          </a:p>
        </p:txBody>
      </p:sp>
      <p:sp>
        <p:nvSpPr>
          <p:cNvPr id="11" name="TextBox 10"/>
          <p:cNvSpPr txBox="1"/>
          <p:nvPr/>
        </p:nvSpPr>
        <p:spPr>
          <a:xfrm>
            <a:off x="4069080" y="5532120"/>
            <a:ext cx="3383280" cy="548640"/>
          </a:xfrm>
          <a:prstGeom prst="rect">
            <a:avLst/>
          </a:prstGeom>
          <a:noFill/>
        </p:spPr>
        <p:txBody>
          <a:bodyPr wrap="square" lIns="0" rIns="0" tIns="0" bIns="0">
            <a:spAutoFit/>
          </a:bodyPr>
          <a:lstStyle/>
          <a:p>
            <a:pPr algn="l">
              <a:lnSpc>
                <a:spcPct val="115000"/>
              </a:lnSpc>
            </a:pPr>
            <a:r>
              <a:rPr sz="1200" b="0" i="0">
                <a:solidFill>
                  <a:srgbClr val="3A464E"/>
                </a:solidFill>
                <a:latin typeface="Calibri"/>
              </a:rPr>
              <a:t>captures/100test_offline/20260708_203730（10書籍×10ラウンド）</a:t>
            </a:r>
          </a:p>
        </p:txBody>
      </p:sp>
      <p:sp>
        <p:nvSpPr>
          <p:cNvPr id="12" name="TextBox 11"/>
          <p:cNvSpPr txBox="1"/>
          <p:nvPr/>
        </p:nvSpPr>
        <p:spPr>
          <a:xfrm>
            <a:off x="7635240" y="5257800"/>
            <a:ext cx="3383280" cy="274320"/>
          </a:xfrm>
          <a:prstGeom prst="rect">
            <a:avLst/>
          </a:prstGeom>
          <a:noFill/>
        </p:spPr>
        <p:txBody>
          <a:bodyPr wrap="square" lIns="0" rIns="0" tIns="0" bIns="0">
            <a:spAutoFit/>
          </a:bodyPr>
          <a:lstStyle/>
          <a:p>
            <a:pPr algn="l">
              <a:lnSpc>
                <a:spcPct val="115000"/>
              </a:lnSpc>
            </a:pPr>
            <a:r>
              <a:rPr sz="1000" b="1" i="0">
                <a:solidFill>
                  <a:srgbClr val="58666F"/>
                </a:solidFill>
                <a:latin typeface="Consolas"/>
              </a:rPr>
              <a:t>スコープ</a:t>
            </a:r>
          </a:p>
        </p:txBody>
      </p:sp>
      <p:sp>
        <p:nvSpPr>
          <p:cNvPr id="13" name="TextBox 12"/>
          <p:cNvSpPr txBox="1"/>
          <p:nvPr/>
        </p:nvSpPr>
        <p:spPr>
          <a:xfrm>
            <a:off x="7635240" y="5532120"/>
            <a:ext cx="3383280" cy="548640"/>
          </a:xfrm>
          <a:prstGeom prst="rect">
            <a:avLst/>
          </a:prstGeom>
          <a:noFill/>
        </p:spPr>
        <p:txBody>
          <a:bodyPr wrap="square" lIns="0" rIns="0" tIns="0" bIns="0">
            <a:spAutoFit/>
          </a:bodyPr>
          <a:lstStyle/>
          <a:p>
            <a:pPr algn="l">
              <a:lnSpc>
                <a:spcPct val="115000"/>
              </a:lnSpc>
            </a:pPr>
            <a:r>
              <a:rPr sz="1200" b="0" i="0">
                <a:solidFill>
                  <a:srgbClr val="3A464E"/>
                </a:solidFill>
                <a:latin typeface="Calibri"/>
              </a:rPr>
              <a:t>原因特定のみ・修正は未着手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85572"/>
            <a:ext cx="88900" cy="889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347472"/>
            <a:ext cx="8229600" cy="274320"/>
          </a:xfrm>
          <a:prstGeom prst="rect">
            <a:avLst/>
          </a:prstGeom>
          <a:noFill/>
        </p:spPr>
        <p:txBody>
          <a:bodyPr wrap="square" lIns="0" rIns="0" tIns="0" bIns="0">
            <a:spAutoFit/>
          </a:bodyPr>
          <a:lstStyle/>
          <a:p>
            <a:pPr algn="l">
              <a:lnSpc>
                <a:spcPct val="115000"/>
              </a:lnSpc>
            </a:pPr>
            <a:r>
              <a:rPr sz="1100" b="1" i="0">
                <a:solidFill>
                  <a:srgbClr val="58666F"/>
                </a:solidFill>
                <a:latin typeface="Consolas"/>
              </a:rPr>
              <a:t>01  ·  書籍幅推定 誤差原因調査</a:t>
            </a:r>
          </a:p>
        </p:txBody>
      </p:sp>
      <p:sp>
        <p:nvSpPr>
          <p:cNvPr id="5" name="TextBox 4"/>
          <p:cNvSpPr txBox="1"/>
          <p:nvPr/>
        </p:nvSpPr>
        <p:spPr>
          <a:xfrm>
            <a:off x="502920" y="658368"/>
            <a:ext cx="11185855" cy="640080"/>
          </a:xfrm>
          <a:prstGeom prst="rect">
            <a:avLst/>
          </a:prstGeom>
          <a:noFill/>
        </p:spPr>
        <p:txBody>
          <a:bodyPr wrap="square" lIns="0" rIns="0" tIns="0" bIns="0">
            <a:spAutoFit/>
          </a:bodyPr>
          <a:lstStyle/>
          <a:p>
            <a:pPr algn="l">
              <a:lnSpc>
                <a:spcPct val="115000"/>
              </a:lnSpc>
            </a:pPr>
            <a:r>
              <a:rPr sz="2800" b="1" i="0">
                <a:solidFill>
                  <a:srgbClr val="131A20"/>
                </a:solidFill>
                <a:latin typeface="Georgia"/>
              </a:rPr>
              <a:t>全体結果</a:t>
            </a:r>
          </a:p>
        </p:txBody>
      </p:sp>
      <p:sp>
        <p:nvSpPr>
          <p:cNvPr id="6" name="TextBox 5"/>
          <p:cNvSpPr txBox="1"/>
          <p:nvPr/>
        </p:nvSpPr>
        <p:spPr>
          <a:xfrm>
            <a:off x="502920" y="1298448"/>
            <a:ext cx="11185855" cy="320040"/>
          </a:xfrm>
          <a:prstGeom prst="rect">
            <a:avLst/>
          </a:prstGeom>
          <a:noFill/>
        </p:spPr>
        <p:txBody>
          <a:bodyPr wrap="square" lIns="0" rIns="0" tIns="0" bIns="0">
            <a:spAutoFit/>
          </a:bodyPr>
          <a:lstStyle/>
          <a:p>
            <a:pPr algn="l">
              <a:lnSpc>
                <a:spcPct val="115000"/>
              </a:lnSpc>
            </a:pPr>
            <a:r>
              <a:rPr sz="1300" b="0" i="0">
                <a:solidFill>
                  <a:srgbClr val="58666F"/>
                </a:solidFill>
                <a:latin typeface="Consolas"/>
              </a:rPr>
              <a:t>100ケース中、目標精度（誤差2mm未満）を満たしたのは半数程度</a:t>
            </a:r>
          </a:p>
        </p:txBody>
      </p:sp>
      <p:cxnSp>
        <p:nvCxnSpPr>
          <p:cNvPr id="7" name="Connector 6"/>
          <p:cNvCxnSpPr/>
          <p:nvPr/>
        </p:nvCxnSpPr>
        <p:spPr>
          <a:xfrm>
            <a:off x="502920" y="1572768"/>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874520"/>
            <a:ext cx="3606698" cy="1828800"/>
          </a:xfrm>
          <a:prstGeom prst="roundRect">
            <a:avLst>
              <a:gd name="adj" fmla="val 6000"/>
            </a:avLst>
          </a:prstGeom>
          <a:solidFill>
            <a:srgbClr val="FFFFFF"/>
          </a:solidFill>
          <a:ln w="12700">
            <a:solidFill>
              <a:srgbClr val="D7DE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21408"/>
            <a:ext cx="3149498" cy="822960"/>
          </a:xfrm>
          <a:prstGeom prst="rect">
            <a:avLst/>
          </a:prstGeom>
          <a:noFill/>
        </p:spPr>
        <p:txBody>
          <a:bodyPr wrap="square" lIns="0" rIns="0" tIns="0" bIns="0">
            <a:spAutoFit/>
          </a:bodyPr>
          <a:lstStyle/>
          <a:p>
            <a:pPr algn="l">
              <a:lnSpc>
                <a:spcPct val="115000"/>
              </a:lnSpc>
            </a:pPr>
            <a:r>
              <a:rPr sz="5200" b="1" i="0">
                <a:solidFill>
                  <a:srgbClr val="0CA30C"/>
                </a:solidFill>
                <a:latin typeface="Consolas"/>
              </a:rPr>
              <a:t>53</a:t>
            </a:r>
          </a:p>
        </p:txBody>
      </p:sp>
      <p:sp>
        <p:nvSpPr>
          <p:cNvPr id="10" name="TextBox 9"/>
          <p:cNvSpPr txBox="1"/>
          <p:nvPr/>
        </p:nvSpPr>
        <p:spPr>
          <a:xfrm>
            <a:off x="731520" y="2788920"/>
            <a:ext cx="3149498" cy="274320"/>
          </a:xfrm>
          <a:prstGeom prst="rect">
            <a:avLst/>
          </a:prstGeom>
          <a:noFill/>
        </p:spPr>
        <p:txBody>
          <a:bodyPr wrap="square" lIns="0" rIns="0" tIns="0" bIns="0">
            <a:spAutoFit/>
          </a:bodyPr>
          <a:lstStyle/>
          <a:p>
            <a:pPr algn="l">
              <a:lnSpc>
                <a:spcPct val="115000"/>
              </a:lnSpc>
            </a:pPr>
            <a:r>
              <a:rPr sz="1300" b="0" i="0">
                <a:solidFill>
                  <a:srgbClr val="58666F"/>
                </a:solidFill>
                <a:latin typeface="Consolas"/>
              </a:rPr>
              <a:t>/ 100</a:t>
            </a:r>
          </a:p>
        </p:txBody>
      </p:sp>
      <p:sp>
        <p:nvSpPr>
          <p:cNvPr id="11" name="TextBox 10"/>
          <p:cNvSpPr txBox="1"/>
          <p:nvPr/>
        </p:nvSpPr>
        <p:spPr>
          <a:xfrm>
            <a:off x="731520" y="3063240"/>
            <a:ext cx="3149498" cy="274320"/>
          </a:xfrm>
          <a:prstGeom prst="rect">
            <a:avLst/>
          </a:prstGeom>
          <a:noFill/>
        </p:spPr>
        <p:txBody>
          <a:bodyPr wrap="square" lIns="0" rIns="0" tIns="0" bIns="0">
            <a:spAutoFit/>
          </a:bodyPr>
          <a:lstStyle/>
          <a:p>
            <a:pPr algn="l">
              <a:lnSpc>
                <a:spcPct val="115000"/>
              </a:lnSpc>
            </a:pPr>
            <a:r>
              <a:rPr sz="1400" b="1" i="0">
                <a:solidFill>
                  <a:srgbClr val="131A20"/>
                </a:solidFill>
                <a:latin typeface="Calibri"/>
              </a:rPr>
              <a:t>誤差 &lt; 2mm</a:t>
            </a:r>
          </a:p>
        </p:txBody>
      </p:sp>
      <p:sp>
        <p:nvSpPr>
          <p:cNvPr id="12" name="TextBox 11"/>
          <p:cNvSpPr txBox="1"/>
          <p:nvPr/>
        </p:nvSpPr>
        <p:spPr>
          <a:xfrm>
            <a:off x="731520" y="3337560"/>
            <a:ext cx="3149498" cy="274320"/>
          </a:xfrm>
          <a:prstGeom prst="rect">
            <a:avLst/>
          </a:prstGeom>
          <a:noFill/>
        </p:spPr>
        <p:txBody>
          <a:bodyPr wrap="square" lIns="0" rIns="0" tIns="0" bIns="0">
            <a:spAutoFit/>
          </a:bodyPr>
          <a:lstStyle/>
          <a:p>
            <a:pPr algn="l">
              <a:lnSpc>
                <a:spcPct val="115000"/>
              </a:lnSpc>
            </a:pPr>
            <a:r>
              <a:rPr sz="1100" b="0" i="0">
                <a:solidFill>
                  <a:srgbClr val="58666F"/>
                </a:solidFill>
                <a:latin typeface="Calibri"/>
              </a:rPr>
              <a:t>目標精度を達成</a:t>
            </a:r>
          </a:p>
        </p:txBody>
      </p:sp>
      <p:sp>
        <p:nvSpPr>
          <p:cNvPr id="13" name="Rounded Rectangle 12"/>
          <p:cNvSpPr/>
          <p:nvPr/>
        </p:nvSpPr>
        <p:spPr>
          <a:xfrm>
            <a:off x="4292498" y="1874520"/>
            <a:ext cx="3606698" cy="1828800"/>
          </a:xfrm>
          <a:prstGeom prst="roundRect">
            <a:avLst>
              <a:gd name="adj" fmla="val 6000"/>
            </a:avLst>
          </a:prstGeom>
          <a:solidFill>
            <a:srgbClr val="FFFFFF"/>
          </a:solidFill>
          <a:ln w="12700">
            <a:solidFill>
              <a:srgbClr val="D7DE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098" y="2121408"/>
            <a:ext cx="3149498" cy="822960"/>
          </a:xfrm>
          <a:prstGeom prst="rect">
            <a:avLst/>
          </a:prstGeom>
          <a:noFill/>
        </p:spPr>
        <p:txBody>
          <a:bodyPr wrap="square" lIns="0" rIns="0" tIns="0" bIns="0">
            <a:spAutoFit/>
          </a:bodyPr>
          <a:lstStyle/>
          <a:p>
            <a:pPr algn="l">
              <a:lnSpc>
                <a:spcPct val="115000"/>
              </a:lnSpc>
            </a:pPr>
            <a:r>
              <a:rPr sz="5200" b="1" i="0">
                <a:solidFill>
                  <a:srgbClr val="D03B3B"/>
                </a:solidFill>
                <a:latin typeface="Consolas"/>
              </a:rPr>
              <a:t>32</a:t>
            </a:r>
          </a:p>
        </p:txBody>
      </p:sp>
      <p:sp>
        <p:nvSpPr>
          <p:cNvPr id="15" name="TextBox 14"/>
          <p:cNvSpPr txBox="1"/>
          <p:nvPr/>
        </p:nvSpPr>
        <p:spPr>
          <a:xfrm>
            <a:off x="4521098" y="2788920"/>
            <a:ext cx="3149498" cy="274320"/>
          </a:xfrm>
          <a:prstGeom prst="rect">
            <a:avLst/>
          </a:prstGeom>
          <a:noFill/>
        </p:spPr>
        <p:txBody>
          <a:bodyPr wrap="square" lIns="0" rIns="0" tIns="0" bIns="0">
            <a:spAutoFit/>
          </a:bodyPr>
          <a:lstStyle/>
          <a:p>
            <a:pPr algn="l">
              <a:lnSpc>
                <a:spcPct val="115000"/>
              </a:lnSpc>
            </a:pPr>
            <a:r>
              <a:rPr sz="1300" b="0" i="0">
                <a:solidFill>
                  <a:srgbClr val="58666F"/>
                </a:solidFill>
                <a:latin typeface="Consolas"/>
              </a:rPr>
              <a:t>/ 100</a:t>
            </a:r>
          </a:p>
        </p:txBody>
      </p:sp>
      <p:sp>
        <p:nvSpPr>
          <p:cNvPr id="16" name="TextBox 15"/>
          <p:cNvSpPr txBox="1"/>
          <p:nvPr/>
        </p:nvSpPr>
        <p:spPr>
          <a:xfrm>
            <a:off x="4521098" y="3063240"/>
            <a:ext cx="3149498" cy="274320"/>
          </a:xfrm>
          <a:prstGeom prst="rect">
            <a:avLst/>
          </a:prstGeom>
          <a:noFill/>
        </p:spPr>
        <p:txBody>
          <a:bodyPr wrap="square" lIns="0" rIns="0" tIns="0" bIns="0">
            <a:spAutoFit/>
          </a:bodyPr>
          <a:lstStyle/>
          <a:p>
            <a:pPr algn="l">
              <a:lnSpc>
                <a:spcPct val="115000"/>
              </a:lnSpc>
            </a:pPr>
            <a:r>
              <a:rPr sz="1400" b="1" i="0">
                <a:solidFill>
                  <a:srgbClr val="131A20"/>
                </a:solidFill>
                <a:latin typeface="Calibri"/>
              </a:rPr>
              <a:t>誤差 ≥ 2mm</a:t>
            </a:r>
          </a:p>
        </p:txBody>
      </p:sp>
      <p:sp>
        <p:nvSpPr>
          <p:cNvPr id="17" name="TextBox 16"/>
          <p:cNvSpPr txBox="1"/>
          <p:nvPr/>
        </p:nvSpPr>
        <p:spPr>
          <a:xfrm>
            <a:off x="4521098" y="3337560"/>
            <a:ext cx="3149498" cy="274320"/>
          </a:xfrm>
          <a:prstGeom prst="rect">
            <a:avLst/>
          </a:prstGeom>
          <a:noFill/>
        </p:spPr>
        <p:txBody>
          <a:bodyPr wrap="square" lIns="0" rIns="0" tIns="0" bIns="0">
            <a:spAutoFit/>
          </a:bodyPr>
          <a:lstStyle/>
          <a:p>
            <a:pPr algn="l">
              <a:lnSpc>
                <a:spcPct val="115000"/>
              </a:lnSpc>
            </a:pPr>
            <a:r>
              <a:rPr sz="1100" b="0" i="0">
                <a:solidFill>
                  <a:srgbClr val="58666F"/>
                </a:solidFill>
                <a:latin typeface="Calibri"/>
              </a:rPr>
              <a:t>3書籍に集中</a:t>
            </a:r>
          </a:p>
        </p:txBody>
      </p:sp>
      <p:sp>
        <p:nvSpPr>
          <p:cNvPr id="18" name="Rounded Rectangle 17"/>
          <p:cNvSpPr/>
          <p:nvPr/>
        </p:nvSpPr>
        <p:spPr>
          <a:xfrm>
            <a:off x="8082076" y="1874520"/>
            <a:ext cx="3606698" cy="1828800"/>
          </a:xfrm>
          <a:prstGeom prst="roundRect">
            <a:avLst>
              <a:gd name="adj" fmla="val 6000"/>
            </a:avLst>
          </a:prstGeom>
          <a:solidFill>
            <a:srgbClr val="FFFFFF"/>
          </a:solidFill>
          <a:ln w="12700">
            <a:solidFill>
              <a:srgbClr val="D7DE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0676" y="2121408"/>
            <a:ext cx="3149498" cy="822960"/>
          </a:xfrm>
          <a:prstGeom prst="rect">
            <a:avLst/>
          </a:prstGeom>
          <a:noFill/>
        </p:spPr>
        <p:txBody>
          <a:bodyPr wrap="square" lIns="0" rIns="0" tIns="0" bIns="0">
            <a:spAutoFit/>
          </a:bodyPr>
          <a:lstStyle/>
          <a:p>
            <a:pPr algn="l">
              <a:lnSpc>
                <a:spcPct val="115000"/>
              </a:lnSpc>
            </a:pPr>
            <a:r>
              <a:rPr sz="5200" b="1" i="0">
                <a:solidFill>
                  <a:srgbClr val="B8860A"/>
                </a:solidFill>
                <a:latin typeface="Consolas"/>
              </a:rPr>
              <a:t>15</a:t>
            </a:r>
          </a:p>
        </p:txBody>
      </p:sp>
      <p:sp>
        <p:nvSpPr>
          <p:cNvPr id="20" name="TextBox 19"/>
          <p:cNvSpPr txBox="1"/>
          <p:nvPr/>
        </p:nvSpPr>
        <p:spPr>
          <a:xfrm>
            <a:off x="8310676" y="2788920"/>
            <a:ext cx="3149498" cy="274320"/>
          </a:xfrm>
          <a:prstGeom prst="rect">
            <a:avLst/>
          </a:prstGeom>
          <a:noFill/>
        </p:spPr>
        <p:txBody>
          <a:bodyPr wrap="square" lIns="0" rIns="0" tIns="0" bIns="0">
            <a:spAutoFit/>
          </a:bodyPr>
          <a:lstStyle/>
          <a:p>
            <a:pPr algn="l">
              <a:lnSpc>
                <a:spcPct val="115000"/>
              </a:lnSpc>
            </a:pPr>
            <a:r>
              <a:rPr sz="1300" b="0" i="0">
                <a:solidFill>
                  <a:srgbClr val="58666F"/>
                </a:solidFill>
                <a:latin typeface="Consolas"/>
              </a:rPr>
              <a:t>/ 100</a:t>
            </a:r>
          </a:p>
        </p:txBody>
      </p:sp>
      <p:sp>
        <p:nvSpPr>
          <p:cNvPr id="21" name="TextBox 20"/>
          <p:cNvSpPr txBox="1"/>
          <p:nvPr/>
        </p:nvSpPr>
        <p:spPr>
          <a:xfrm>
            <a:off x="8310676" y="3063240"/>
            <a:ext cx="3149498" cy="274320"/>
          </a:xfrm>
          <a:prstGeom prst="rect">
            <a:avLst/>
          </a:prstGeom>
          <a:noFill/>
        </p:spPr>
        <p:txBody>
          <a:bodyPr wrap="square" lIns="0" rIns="0" tIns="0" bIns="0">
            <a:spAutoFit/>
          </a:bodyPr>
          <a:lstStyle/>
          <a:p>
            <a:pPr algn="l">
              <a:lnSpc>
                <a:spcPct val="115000"/>
              </a:lnSpc>
            </a:pPr>
            <a:r>
              <a:rPr sz="1400" b="1" i="0">
                <a:solidFill>
                  <a:srgbClr val="131A20"/>
                </a:solidFill>
                <a:latin typeface="Calibri"/>
              </a:rPr>
              <a:t>推定自体が失敗</a:t>
            </a:r>
          </a:p>
        </p:txBody>
      </p:sp>
      <p:sp>
        <p:nvSpPr>
          <p:cNvPr id="22" name="TextBox 21"/>
          <p:cNvSpPr txBox="1"/>
          <p:nvPr/>
        </p:nvSpPr>
        <p:spPr>
          <a:xfrm>
            <a:off x="8310676" y="3337560"/>
            <a:ext cx="3149498" cy="274320"/>
          </a:xfrm>
          <a:prstGeom prst="rect">
            <a:avLst/>
          </a:prstGeom>
          <a:noFill/>
        </p:spPr>
        <p:txBody>
          <a:bodyPr wrap="square" lIns="0" rIns="0" tIns="0" bIns="0">
            <a:spAutoFit/>
          </a:bodyPr>
          <a:lstStyle/>
          <a:p>
            <a:pPr algn="l">
              <a:lnSpc>
                <a:spcPct val="115000"/>
              </a:lnSpc>
            </a:pPr>
            <a:r>
              <a:rPr sz="1100" b="0" i="0">
                <a:solidFill>
                  <a:srgbClr val="58666F"/>
                </a:solidFill>
                <a:latin typeface="Calibri"/>
              </a:rPr>
              <a:t>同一の例外でクラッシュ</a:t>
            </a:r>
          </a:p>
        </p:txBody>
      </p:sp>
      <p:sp>
        <p:nvSpPr>
          <p:cNvPr id="23" name="Rounded Rectangle 22"/>
          <p:cNvSpPr/>
          <p:nvPr/>
        </p:nvSpPr>
        <p:spPr>
          <a:xfrm>
            <a:off x="502920" y="3886200"/>
            <a:ext cx="11185855" cy="1051560"/>
          </a:xfrm>
          <a:prstGeom prst="roundRect">
            <a:avLst>
              <a:gd name="adj" fmla="val 8000"/>
            </a:avLst>
          </a:prstGeom>
          <a:solidFill>
            <a:srgbClr val="E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3886200"/>
            <a:ext cx="54864" cy="10515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050792"/>
            <a:ext cx="10637215" cy="777240"/>
          </a:xfrm>
          <a:prstGeom prst="rect">
            <a:avLst/>
          </a:prstGeom>
          <a:noFill/>
        </p:spPr>
        <p:txBody>
          <a:bodyPr wrap="square" lIns="0" rIns="0" tIns="0" bIns="0">
            <a:spAutoFit/>
          </a:bodyPr>
          <a:lstStyle/>
          <a:p>
            <a:pPr algn="l">
              <a:lnSpc>
                <a:spcPct val="130000"/>
              </a:lnSpc>
            </a:pPr>
            <a:r>
              <a:rPr sz="1500" b="0" i="0">
                <a:solidFill>
                  <a:srgbClr val="131A20"/>
                </a:solidFill>
                <a:latin typeface="Calibri"/>
              </a:rPr>
              <a:t>誤差は10書籍に均等に分布しているのではなく、3つの書籍に集中していた。</a:t>
            </a:r>
          </a:p>
          <a:p>
            <a:pPr algn="l">
              <a:lnSpc>
                <a:spcPct val="130000"/>
              </a:lnSpc>
            </a:pPr>
            <a:r>
              <a:rPr sz="1500" b="0" i="0">
                <a:solidFill>
                  <a:srgbClr val="131A20"/>
                </a:solidFill>
                <a:latin typeface="Calibri"/>
              </a:rPr>
              <a:t>かつ、その3書籍の中でも原因はさらに2系統に分かれることが分かった。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85572"/>
            <a:ext cx="88900" cy="889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347472"/>
            <a:ext cx="8229600" cy="274320"/>
          </a:xfrm>
          <a:prstGeom prst="rect">
            <a:avLst/>
          </a:prstGeom>
          <a:noFill/>
        </p:spPr>
        <p:txBody>
          <a:bodyPr wrap="square" lIns="0" rIns="0" tIns="0" bIns="0">
            <a:spAutoFit/>
          </a:bodyPr>
          <a:lstStyle/>
          <a:p>
            <a:pPr algn="l">
              <a:lnSpc>
                <a:spcPct val="115000"/>
              </a:lnSpc>
            </a:pPr>
            <a:r>
              <a:rPr sz="1100" b="1" i="0">
                <a:solidFill>
                  <a:srgbClr val="58666F"/>
                </a:solidFill>
                <a:latin typeface="Consolas"/>
              </a:rPr>
              <a:t>01  ·  書籍幅推定 誤差原因調査</a:t>
            </a:r>
          </a:p>
        </p:txBody>
      </p:sp>
      <p:sp>
        <p:nvSpPr>
          <p:cNvPr id="5" name="TextBox 4"/>
          <p:cNvSpPr txBox="1"/>
          <p:nvPr/>
        </p:nvSpPr>
        <p:spPr>
          <a:xfrm>
            <a:off x="502920" y="658368"/>
            <a:ext cx="11185855" cy="640080"/>
          </a:xfrm>
          <a:prstGeom prst="rect">
            <a:avLst/>
          </a:prstGeom>
          <a:noFill/>
        </p:spPr>
        <p:txBody>
          <a:bodyPr wrap="square" lIns="0" rIns="0" tIns="0" bIns="0">
            <a:spAutoFit/>
          </a:bodyPr>
          <a:lstStyle/>
          <a:p>
            <a:pPr algn="l">
              <a:lnSpc>
                <a:spcPct val="115000"/>
              </a:lnSpc>
            </a:pPr>
            <a:r>
              <a:rPr sz="2800" b="1" i="0">
                <a:solidFill>
                  <a:srgbClr val="131A20"/>
                </a:solidFill>
                <a:latin typeface="Georgia"/>
              </a:rPr>
              <a:t>書籍別 平均誤差</a:t>
            </a:r>
          </a:p>
        </p:txBody>
      </p:sp>
      <p:sp>
        <p:nvSpPr>
          <p:cNvPr id="6" name="TextBox 5"/>
          <p:cNvSpPr txBox="1"/>
          <p:nvPr/>
        </p:nvSpPr>
        <p:spPr>
          <a:xfrm>
            <a:off x="502920" y="1298448"/>
            <a:ext cx="11185855" cy="320040"/>
          </a:xfrm>
          <a:prstGeom prst="rect">
            <a:avLst/>
          </a:prstGeom>
          <a:noFill/>
        </p:spPr>
        <p:txBody>
          <a:bodyPr wrap="square" lIns="0" rIns="0" tIns="0" bIns="0">
            <a:spAutoFit/>
          </a:bodyPr>
          <a:lstStyle/>
          <a:p>
            <a:pPr algn="l">
              <a:lnSpc>
                <a:spcPct val="115000"/>
              </a:lnSpc>
            </a:pPr>
            <a:r>
              <a:rPr sz="1300" b="0" i="0">
                <a:solidFill>
                  <a:srgbClr val="58666F"/>
                </a:solidFill>
                <a:latin typeface="Consolas"/>
              </a:rPr>
              <a:t>FIG. 1 — 成功ケースのみ・10ラウンド平均（mm）</a:t>
            </a:r>
          </a:p>
        </p:txBody>
      </p:sp>
      <p:cxnSp>
        <p:nvCxnSpPr>
          <p:cNvPr id="7" name="Connector 6"/>
          <p:cNvCxnSpPr/>
          <p:nvPr/>
        </p:nvCxnSpPr>
        <p:spPr>
          <a:xfrm>
            <a:off x="502920" y="1572768"/>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graphicFrame>
        <p:nvGraphicFramePr>
          <p:cNvPr id="8" name="Chart 7"/>
          <p:cNvGraphicFramePr>
            <a:graphicFrameLocks noGrp="1"/>
          </p:cNvGraphicFramePr>
          <p:nvPr/>
        </p:nvGraphicFramePr>
        <p:xfrm>
          <a:off x="502920" y="1828800"/>
          <a:ext cx="11185855" cy="4160520"/>
        </p:xfrm>
        <a:graphic>
          <a:graphicData uri="http://schemas.openxmlformats.org/drawingml/2006/chart">
            <c:chart xmlns:c="http://schemas.openxmlformats.org/drawingml/2006/chart" r:id="rId2"/>
          </a:graphicData>
        </a:graphic>
      </p:graphicFrame>
      <p:sp>
        <p:nvSpPr>
          <p:cNvPr id="9" name="TextBox 8"/>
          <p:cNvSpPr txBox="1"/>
          <p:nvPr/>
        </p:nvSpPr>
        <p:spPr>
          <a:xfrm>
            <a:off x="502920" y="6080760"/>
            <a:ext cx="11185855" cy="457200"/>
          </a:xfrm>
          <a:prstGeom prst="rect">
            <a:avLst/>
          </a:prstGeom>
          <a:noFill/>
        </p:spPr>
        <p:txBody>
          <a:bodyPr wrap="square" lIns="0" rIns="0" tIns="0" bIns="0">
            <a:spAutoFit/>
          </a:bodyPr>
          <a:lstStyle/>
          <a:p>
            <a:pPr algn="l">
              <a:lnSpc>
                <a:spcPct val="115000"/>
              </a:lnSpc>
            </a:pPr>
            <a:r>
              <a:rPr sz="1200" b="0" i="0">
                <a:solidFill>
                  <a:srgbClr val="58666F"/>
                </a:solidFill>
                <a:latin typeface="Consolas"/>
              </a:rPr>
              <a:t>3書籍（stryker / Riptide / Eccelsior）が誤差全体の大半を占める。残り7書籍は概ね良好。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85572"/>
            <a:ext cx="88900" cy="889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347472"/>
            <a:ext cx="8229600" cy="274320"/>
          </a:xfrm>
          <a:prstGeom prst="rect">
            <a:avLst/>
          </a:prstGeom>
          <a:noFill/>
        </p:spPr>
        <p:txBody>
          <a:bodyPr wrap="square" lIns="0" rIns="0" tIns="0" bIns="0">
            <a:spAutoFit/>
          </a:bodyPr>
          <a:lstStyle/>
          <a:p>
            <a:pPr algn="l">
              <a:lnSpc>
                <a:spcPct val="115000"/>
              </a:lnSpc>
            </a:pPr>
            <a:r>
              <a:rPr sz="1100" b="1" i="0">
                <a:solidFill>
                  <a:srgbClr val="58666F"/>
                </a:solidFill>
                <a:latin typeface="Consolas"/>
              </a:rPr>
              <a:t>02  ·  書籍幅推定 誤差原因調査</a:t>
            </a:r>
          </a:p>
        </p:txBody>
      </p:sp>
      <p:sp>
        <p:nvSpPr>
          <p:cNvPr id="5" name="TextBox 4"/>
          <p:cNvSpPr txBox="1"/>
          <p:nvPr/>
        </p:nvSpPr>
        <p:spPr>
          <a:xfrm>
            <a:off x="502920" y="658368"/>
            <a:ext cx="11185855" cy="640080"/>
          </a:xfrm>
          <a:prstGeom prst="rect">
            <a:avLst/>
          </a:prstGeom>
          <a:noFill/>
        </p:spPr>
        <p:txBody>
          <a:bodyPr wrap="square" lIns="0" rIns="0" tIns="0" bIns="0">
            <a:spAutoFit/>
          </a:bodyPr>
          <a:lstStyle/>
          <a:p>
            <a:pPr algn="l">
              <a:lnSpc>
                <a:spcPct val="115000"/>
              </a:lnSpc>
            </a:pPr>
            <a:r>
              <a:rPr sz="2800" b="1" i="0">
                <a:solidFill>
                  <a:srgbClr val="131A20"/>
                </a:solidFill>
                <a:latin typeface="Georgia"/>
              </a:rPr>
              <a:t>調査方法 — 工程を3段階に分けて数値を追跡</a:t>
            </a:r>
          </a:p>
        </p:txBody>
      </p:sp>
      <p:sp>
        <p:nvSpPr>
          <p:cNvPr id="6" name="TextBox 5"/>
          <p:cNvSpPr txBox="1"/>
          <p:nvPr/>
        </p:nvSpPr>
        <p:spPr>
          <a:xfrm>
            <a:off x="502920" y="1298448"/>
            <a:ext cx="11185855" cy="320040"/>
          </a:xfrm>
          <a:prstGeom prst="rect">
            <a:avLst/>
          </a:prstGeom>
          <a:noFill/>
        </p:spPr>
        <p:txBody>
          <a:bodyPr wrap="square" lIns="0" rIns="0" tIns="0" bIns="0">
            <a:spAutoFit/>
          </a:bodyPr>
          <a:lstStyle/>
          <a:p>
            <a:pPr algn="l">
              <a:lnSpc>
                <a:spcPct val="115000"/>
              </a:lnSpc>
            </a:pPr>
            <a:r>
              <a:rPr sz="1300" b="0" i="0">
                <a:solidFill>
                  <a:srgbClr val="58666F"/>
                </a:solidFill>
                <a:latin typeface="Consolas"/>
              </a:rPr>
              <a:t>画像を目視せず、パイプラインが自動保存するログ／デバッグ画像だけから各工程時点の幅を再計算した</a:t>
            </a:r>
          </a:p>
        </p:txBody>
      </p:sp>
      <p:cxnSp>
        <p:nvCxnSpPr>
          <p:cNvPr id="7" name="Connector 6"/>
          <p:cNvCxnSpPr/>
          <p:nvPr/>
        </p:nvCxnSpPr>
        <p:spPr>
          <a:xfrm>
            <a:off x="502920" y="1572768"/>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1783080"/>
            <a:ext cx="11185855" cy="822960"/>
          </a:xfrm>
          <a:prstGeom prst="rect">
            <a:avLst/>
          </a:prstGeom>
          <a:noFill/>
        </p:spPr>
        <p:txBody>
          <a:bodyPr wrap="square" lIns="0" rIns="0" tIns="0" bIns="0">
            <a:spAutoFit/>
          </a:bodyPr>
          <a:lstStyle/>
          <a:p>
            <a:pPr algn="l">
              <a:lnSpc>
                <a:spcPct val="135000"/>
              </a:lnSpc>
            </a:pPr>
            <a:r>
              <a:rPr sz="1300" b="0" i="0">
                <a:solidFill>
                  <a:srgbClr val="3A464E"/>
                </a:solidFill>
                <a:latin typeface="Calibri"/>
              </a:rPr>
              <a:t>認識パイプラインは「マスク選択 → 深度フィルタ＋背表紙帯補完 → 最終幅計算(M1 or M2)」</a:t>
            </a:r>
          </a:p>
          <a:p>
            <a:pPr algn="l">
              <a:lnSpc>
                <a:spcPct val="135000"/>
              </a:lnSpc>
            </a:pPr>
            <a:r>
              <a:rPr sz="1300" b="0" i="0">
                <a:solidFill>
                  <a:srgbClr val="3A464E"/>
                </a:solidFill>
                <a:latin typeface="Calibri"/>
              </a:rPr>
              <a:t>という順で処理が進む。誤差がどの工程で生まれたかを特定するため、各工程の時点で</a:t>
            </a:r>
          </a:p>
          <a:p>
            <a:pPr algn="l">
              <a:lnSpc>
                <a:spcPct val="135000"/>
              </a:lnSpc>
            </a:pPr>
            <a:r>
              <a:rPr sz="1300" b="0" i="0">
                <a:solidFill>
                  <a:srgbClr val="3A464E"/>
                </a:solidFill>
                <a:latin typeface="Calibri"/>
              </a:rPr>
              <a:t>「今の形のまま幅を測ったら何mmになるか」を3つのチェックポイントで実測し、GTとの差を比較した。</a:t>
            </a:r>
          </a:p>
        </p:txBody>
      </p:sp>
      <p:sp>
        <p:nvSpPr>
          <p:cNvPr id="9" name="Rounded Rectangle 8"/>
          <p:cNvSpPr/>
          <p:nvPr/>
        </p:nvSpPr>
        <p:spPr>
          <a:xfrm>
            <a:off x="723747" y="3154680"/>
            <a:ext cx="3246120" cy="1554480"/>
          </a:xfrm>
          <a:prstGeom prst="roundRect">
            <a:avLst>
              <a:gd name="adj" fmla="val 8000"/>
            </a:avLst>
          </a:prstGeom>
          <a:solidFill>
            <a:srgbClr val="FFFFFF"/>
          </a:solidFill>
          <a:ln w="15875">
            <a:solidFill>
              <a:srgbClr val="D7DE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4915" y="3337560"/>
            <a:ext cx="2843784" cy="274320"/>
          </a:xfrm>
          <a:prstGeom prst="rect">
            <a:avLst/>
          </a:prstGeom>
          <a:noFill/>
        </p:spPr>
        <p:txBody>
          <a:bodyPr wrap="square" lIns="0" rIns="0" tIns="0" bIns="0">
            <a:spAutoFit/>
          </a:bodyPr>
          <a:lstStyle/>
          <a:p>
            <a:pPr algn="l">
              <a:lnSpc>
                <a:spcPct val="115000"/>
              </a:lnSpc>
            </a:pPr>
            <a:r>
              <a:rPr sz="1300" b="1" i="0">
                <a:solidFill>
                  <a:srgbClr val="2A78D6"/>
                </a:solidFill>
                <a:latin typeface="Consolas"/>
              </a:rPr>
              <a:t>誤差0 · 生マスク</a:t>
            </a:r>
          </a:p>
        </p:txBody>
      </p:sp>
      <p:sp>
        <p:nvSpPr>
          <p:cNvPr id="11" name="TextBox 10"/>
          <p:cNvSpPr txBox="1"/>
          <p:nvPr/>
        </p:nvSpPr>
        <p:spPr>
          <a:xfrm>
            <a:off x="924915" y="3703320"/>
            <a:ext cx="2843784" cy="914400"/>
          </a:xfrm>
          <a:prstGeom prst="rect">
            <a:avLst/>
          </a:prstGeom>
          <a:noFill/>
        </p:spPr>
        <p:txBody>
          <a:bodyPr wrap="square" lIns="0" rIns="0" tIns="0" bIns="0">
            <a:spAutoFit/>
          </a:bodyPr>
          <a:lstStyle/>
          <a:p>
            <a:pPr algn="l">
              <a:lnSpc>
                <a:spcPct val="130000"/>
              </a:lnSpc>
            </a:pPr>
            <a:r>
              <a:rPr sz="1300" b="0" i="0">
                <a:solidFill>
                  <a:srgbClr val="3A464E"/>
                </a:solidFill>
                <a:latin typeface="Calibri"/>
              </a:rPr>
              <a:t>SAM2＋OCRで選ばれた直後、</a:t>
            </a:r>
          </a:p>
          <a:p>
            <a:pPr algn="l">
              <a:lnSpc>
                <a:spcPct val="130000"/>
              </a:lnSpc>
            </a:pPr>
            <a:r>
              <a:rPr sz="1300" b="0" i="0">
                <a:solidFill>
                  <a:srgbClr val="3A464E"/>
                </a:solidFill>
                <a:latin typeface="Calibri"/>
              </a:rPr>
              <a:t>深度フィルタより前のマスク幅</a:t>
            </a:r>
          </a:p>
        </p:txBody>
      </p:sp>
      <p:sp>
        <p:nvSpPr>
          <p:cNvPr id="12" name="TextBox 11"/>
          <p:cNvSpPr txBox="1"/>
          <p:nvPr/>
        </p:nvSpPr>
        <p:spPr>
          <a:xfrm>
            <a:off x="4015587" y="3730752"/>
            <a:ext cx="411480" cy="402336"/>
          </a:xfrm>
          <a:prstGeom prst="rect">
            <a:avLst/>
          </a:prstGeom>
          <a:noFill/>
        </p:spPr>
        <p:txBody>
          <a:bodyPr wrap="square" lIns="0" rIns="0" tIns="0" bIns="0">
            <a:spAutoFit/>
          </a:bodyPr>
          <a:lstStyle/>
          <a:p>
            <a:pPr algn="ctr">
              <a:lnSpc>
                <a:spcPct val="115000"/>
              </a:lnSpc>
            </a:pPr>
            <a:r>
              <a:rPr sz="2200" b="0" i="0">
                <a:solidFill>
                  <a:srgbClr val="58666F"/>
                </a:solidFill>
                <a:latin typeface="Consolas"/>
              </a:rPr>
              <a:t>→</a:t>
            </a:r>
          </a:p>
        </p:txBody>
      </p:sp>
      <p:sp>
        <p:nvSpPr>
          <p:cNvPr id="13" name="Rounded Rectangle 12"/>
          <p:cNvSpPr/>
          <p:nvPr/>
        </p:nvSpPr>
        <p:spPr>
          <a:xfrm>
            <a:off x="4472787" y="3154680"/>
            <a:ext cx="3246120" cy="1554480"/>
          </a:xfrm>
          <a:prstGeom prst="roundRect">
            <a:avLst>
              <a:gd name="adj" fmla="val 8000"/>
            </a:avLst>
          </a:prstGeom>
          <a:solidFill>
            <a:srgbClr val="FFFFFF"/>
          </a:solidFill>
          <a:ln w="15875">
            <a:solidFill>
              <a:srgbClr val="D7DE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73955" y="3337560"/>
            <a:ext cx="2843784" cy="274320"/>
          </a:xfrm>
          <a:prstGeom prst="rect">
            <a:avLst/>
          </a:prstGeom>
          <a:noFill/>
        </p:spPr>
        <p:txBody>
          <a:bodyPr wrap="square" lIns="0" rIns="0" tIns="0" bIns="0">
            <a:spAutoFit/>
          </a:bodyPr>
          <a:lstStyle/>
          <a:p>
            <a:pPr algn="l">
              <a:lnSpc>
                <a:spcPct val="115000"/>
              </a:lnSpc>
            </a:pPr>
            <a:r>
              <a:rPr sz="1300" b="1" i="0">
                <a:solidFill>
                  <a:srgbClr val="2A78D6"/>
                </a:solidFill>
                <a:latin typeface="Consolas"/>
              </a:rPr>
              <a:t>誤差1 · 整形後マスク</a:t>
            </a:r>
          </a:p>
        </p:txBody>
      </p:sp>
      <p:sp>
        <p:nvSpPr>
          <p:cNvPr id="15" name="TextBox 14"/>
          <p:cNvSpPr txBox="1"/>
          <p:nvPr/>
        </p:nvSpPr>
        <p:spPr>
          <a:xfrm>
            <a:off x="4673955" y="3703320"/>
            <a:ext cx="2843784" cy="914400"/>
          </a:xfrm>
          <a:prstGeom prst="rect">
            <a:avLst/>
          </a:prstGeom>
          <a:noFill/>
        </p:spPr>
        <p:txBody>
          <a:bodyPr wrap="square" lIns="0" rIns="0" tIns="0" bIns="0">
            <a:spAutoFit/>
          </a:bodyPr>
          <a:lstStyle/>
          <a:p>
            <a:pPr algn="l">
              <a:lnSpc>
                <a:spcPct val="130000"/>
              </a:lnSpc>
            </a:pPr>
            <a:r>
              <a:rPr sz="1300" b="0" i="0">
                <a:solidFill>
                  <a:srgbClr val="3A464E"/>
                </a:solidFill>
                <a:latin typeface="Calibri"/>
              </a:rPr>
              <a:t>深度フィルタ＋背表紙帯補完を経た、</a:t>
            </a:r>
          </a:p>
          <a:p>
            <a:pPr algn="l">
              <a:lnSpc>
                <a:spcPct val="130000"/>
              </a:lnSpc>
            </a:pPr>
            <a:r>
              <a:rPr sz="1300" b="0" i="0">
                <a:solidFill>
                  <a:srgbClr val="3A464E"/>
                </a:solidFill>
                <a:latin typeface="Calibri"/>
              </a:rPr>
              <a:t>最終計算にかける直前のマスク幅</a:t>
            </a:r>
          </a:p>
        </p:txBody>
      </p:sp>
      <p:sp>
        <p:nvSpPr>
          <p:cNvPr id="16" name="TextBox 15"/>
          <p:cNvSpPr txBox="1"/>
          <p:nvPr/>
        </p:nvSpPr>
        <p:spPr>
          <a:xfrm>
            <a:off x="7764627" y="3730752"/>
            <a:ext cx="411480" cy="402336"/>
          </a:xfrm>
          <a:prstGeom prst="rect">
            <a:avLst/>
          </a:prstGeom>
          <a:noFill/>
        </p:spPr>
        <p:txBody>
          <a:bodyPr wrap="square" lIns="0" rIns="0" tIns="0" bIns="0">
            <a:spAutoFit/>
          </a:bodyPr>
          <a:lstStyle/>
          <a:p>
            <a:pPr algn="ctr">
              <a:lnSpc>
                <a:spcPct val="115000"/>
              </a:lnSpc>
            </a:pPr>
            <a:r>
              <a:rPr sz="2200" b="0" i="0">
                <a:solidFill>
                  <a:srgbClr val="58666F"/>
                </a:solidFill>
                <a:latin typeface="Consolas"/>
              </a:rPr>
              <a:t>→</a:t>
            </a:r>
          </a:p>
        </p:txBody>
      </p:sp>
      <p:sp>
        <p:nvSpPr>
          <p:cNvPr id="17" name="Rounded Rectangle 16"/>
          <p:cNvSpPr/>
          <p:nvPr/>
        </p:nvSpPr>
        <p:spPr>
          <a:xfrm>
            <a:off x="8221827" y="3154680"/>
            <a:ext cx="3246120" cy="1554480"/>
          </a:xfrm>
          <a:prstGeom prst="roundRect">
            <a:avLst>
              <a:gd name="adj" fmla="val 8000"/>
            </a:avLst>
          </a:prstGeom>
          <a:solidFill>
            <a:srgbClr val="FFFFFF"/>
          </a:solidFill>
          <a:ln w="15875">
            <a:solidFill>
              <a:srgbClr val="D7DE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22995" y="3337560"/>
            <a:ext cx="2843784" cy="274320"/>
          </a:xfrm>
          <a:prstGeom prst="rect">
            <a:avLst/>
          </a:prstGeom>
          <a:noFill/>
        </p:spPr>
        <p:txBody>
          <a:bodyPr wrap="square" lIns="0" rIns="0" tIns="0" bIns="0">
            <a:spAutoFit/>
          </a:bodyPr>
          <a:lstStyle/>
          <a:p>
            <a:pPr algn="l">
              <a:lnSpc>
                <a:spcPct val="115000"/>
              </a:lnSpc>
            </a:pPr>
            <a:r>
              <a:rPr sz="1300" b="1" i="0">
                <a:solidFill>
                  <a:srgbClr val="2A78D6"/>
                </a:solidFill>
                <a:latin typeface="Consolas"/>
              </a:rPr>
              <a:t>誤差2 · 最終出力</a:t>
            </a:r>
          </a:p>
        </p:txBody>
      </p:sp>
      <p:sp>
        <p:nvSpPr>
          <p:cNvPr id="19" name="TextBox 18"/>
          <p:cNvSpPr txBox="1"/>
          <p:nvPr/>
        </p:nvSpPr>
        <p:spPr>
          <a:xfrm>
            <a:off x="8422995" y="3703320"/>
            <a:ext cx="2843784" cy="914400"/>
          </a:xfrm>
          <a:prstGeom prst="rect">
            <a:avLst/>
          </a:prstGeom>
          <a:noFill/>
        </p:spPr>
        <p:txBody>
          <a:bodyPr wrap="square" lIns="0" rIns="0" tIns="0" bIns="0">
            <a:spAutoFit/>
          </a:bodyPr>
          <a:lstStyle/>
          <a:p>
            <a:pPr algn="l">
              <a:lnSpc>
                <a:spcPct val="130000"/>
              </a:lnSpc>
            </a:pPr>
            <a:r>
              <a:rPr sz="1300" b="0" i="0">
                <a:solidFill>
                  <a:srgbClr val="3A464E"/>
                </a:solidFill>
                <a:latin typeface="Calibri"/>
              </a:rPr>
              <a:t>M1(px幅変換) または M2(点群PCAスライス)</a:t>
            </a:r>
          </a:p>
          <a:p>
            <a:pPr algn="l">
              <a:lnSpc>
                <a:spcPct val="130000"/>
              </a:lnSpc>
            </a:pPr>
            <a:r>
              <a:rPr sz="1300" b="0" i="0">
                <a:solidFill>
                  <a:srgbClr val="3A464E"/>
                </a:solidFill>
                <a:latin typeface="Calibri"/>
              </a:rPr>
              <a:t>が実際に出した幅</a:t>
            </a:r>
          </a:p>
        </p:txBody>
      </p:sp>
      <p:sp>
        <p:nvSpPr>
          <p:cNvPr id="20" name="TextBox 19"/>
          <p:cNvSpPr txBox="1"/>
          <p:nvPr/>
        </p:nvSpPr>
        <p:spPr>
          <a:xfrm>
            <a:off x="502920" y="5029200"/>
            <a:ext cx="11185855" cy="548640"/>
          </a:xfrm>
          <a:prstGeom prst="rect">
            <a:avLst/>
          </a:prstGeom>
          <a:noFill/>
        </p:spPr>
        <p:txBody>
          <a:bodyPr wrap="square" lIns="0" rIns="0" tIns="0" bIns="0">
            <a:spAutoFit/>
          </a:bodyPr>
          <a:lstStyle/>
          <a:p>
            <a:pPr algn="l">
              <a:lnSpc>
                <a:spcPct val="130000"/>
              </a:lnSpc>
            </a:pPr>
            <a:r>
              <a:rPr sz="1200" b="0" i="0">
                <a:solidFill>
                  <a:srgbClr val="58666F"/>
                </a:solidFill>
                <a:latin typeface="Consolas"/>
              </a:rPr>
              <a:t>誤差0と誤差1がほぼ同じ書籍＝入口(マスク選択)が原因／誤差1は正常なのに誤差2だけ跳ねる書籍＝出口(最終計算)が原因、と切り分けられる。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85572"/>
            <a:ext cx="88900" cy="889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347472"/>
            <a:ext cx="8229600" cy="274320"/>
          </a:xfrm>
          <a:prstGeom prst="rect">
            <a:avLst/>
          </a:prstGeom>
          <a:noFill/>
        </p:spPr>
        <p:txBody>
          <a:bodyPr wrap="square" lIns="0" rIns="0" tIns="0" bIns="0">
            <a:spAutoFit/>
          </a:bodyPr>
          <a:lstStyle/>
          <a:p>
            <a:pPr algn="l">
              <a:lnSpc>
                <a:spcPct val="115000"/>
              </a:lnSpc>
            </a:pPr>
            <a:r>
              <a:rPr sz="1100" b="1" i="0">
                <a:solidFill>
                  <a:srgbClr val="58666F"/>
                </a:solidFill>
                <a:latin typeface="Consolas"/>
              </a:rPr>
              <a:t>03  ·  書籍幅推定 誤差原因調査</a:t>
            </a:r>
          </a:p>
        </p:txBody>
      </p:sp>
      <p:sp>
        <p:nvSpPr>
          <p:cNvPr id="5" name="TextBox 4"/>
          <p:cNvSpPr txBox="1"/>
          <p:nvPr/>
        </p:nvSpPr>
        <p:spPr>
          <a:xfrm>
            <a:off x="502920" y="658368"/>
            <a:ext cx="11185855" cy="640080"/>
          </a:xfrm>
          <a:prstGeom prst="rect">
            <a:avLst/>
          </a:prstGeom>
          <a:noFill/>
        </p:spPr>
        <p:txBody>
          <a:bodyPr wrap="square" lIns="0" rIns="0" tIns="0" bIns="0">
            <a:spAutoFit/>
          </a:bodyPr>
          <a:lstStyle/>
          <a:p>
            <a:pPr algn="l">
              <a:lnSpc>
                <a:spcPct val="115000"/>
              </a:lnSpc>
            </a:pPr>
            <a:r>
              <a:rPr sz="2800" b="1" i="0">
                <a:solidFill>
                  <a:srgbClr val="131A20"/>
                </a:solidFill>
                <a:latin typeface="Georgia"/>
              </a:rPr>
              <a:t>誤差2mm以上・32件の内訳</a:t>
            </a:r>
          </a:p>
        </p:txBody>
      </p:sp>
      <p:sp>
        <p:nvSpPr>
          <p:cNvPr id="6" name="TextBox 5"/>
          <p:cNvSpPr txBox="1"/>
          <p:nvPr/>
        </p:nvSpPr>
        <p:spPr>
          <a:xfrm>
            <a:off x="502920" y="1298448"/>
            <a:ext cx="11185855" cy="320040"/>
          </a:xfrm>
          <a:prstGeom prst="rect">
            <a:avLst/>
          </a:prstGeom>
          <a:noFill/>
        </p:spPr>
        <p:txBody>
          <a:bodyPr wrap="square" lIns="0" rIns="0" tIns="0" bIns="0">
            <a:spAutoFit/>
          </a:bodyPr>
          <a:lstStyle/>
          <a:p>
            <a:pPr algn="l">
              <a:lnSpc>
                <a:spcPct val="115000"/>
              </a:lnSpc>
            </a:pPr>
            <a:r>
              <a:rPr sz="1300" b="0" i="0">
                <a:solidFill>
                  <a:srgbClr val="58666F"/>
                </a:solidFill>
                <a:latin typeface="Consolas"/>
              </a:rPr>
              <a:t>FIG. 3 — 最終誤差2mm以上(32件)の原因工程</a:t>
            </a:r>
          </a:p>
        </p:txBody>
      </p:sp>
      <p:cxnSp>
        <p:nvCxnSpPr>
          <p:cNvPr id="7" name="Connector 6"/>
          <p:cNvCxnSpPr/>
          <p:nvPr/>
        </p:nvCxnSpPr>
        <p:spPr>
          <a:xfrm>
            <a:off x="502920" y="1572768"/>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graphicFrame>
        <p:nvGraphicFramePr>
          <p:cNvPr id="8" name="Chart 7"/>
          <p:cNvGraphicFramePr>
            <a:graphicFrameLocks noGrp="1"/>
          </p:cNvGraphicFramePr>
          <p:nvPr/>
        </p:nvGraphicFramePr>
        <p:xfrm>
          <a:off x="502920" y="1874520"/>
          <a:ext cx="11185855" cy="3017520"/>
        </p:xfrm>
        <a:graphic>
          <a:graphicData uri="http://schemas.openxmlformats.org/drawingml/2006/chart">
            <c:chart xmlns:c="http://schemas.openxmlformats.org/drawingml/2006/chart" r:id="rId2"/>
          </a:graphicData>
        </a:graphic>
      </p:graphicFrame>
      <p:sp>
        <p:nvSpPr>
          <p:cNvPr id="9" name="Rounded Rectangle 8"/>
          <p:cNvSpPr/>
          <p:nvPr/>
        </p:nvSpPr>
        <p:spPr>
          <a:xfrm>
            <a:off x="502920" y="5074920"/>
            <a:ext cx="11185855" cy="822960"/>
          </a:xfrm>
          <a:prstGeom prst="roundRect">
            <a:avLst>
              <a:gd name="adj" fmla="val 8000"/>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239512"/>
            <a:ext cx="10637215" cy="548640"/>
          </a:xfrm>
          <a:prstGeom prst="rect">
            <a:avLst/>
          </a:prstGeom>
          <a:noFill/>
        </p:spPr>
        <p:txBody>
          <a:bodyPr wrap="square" lIns="0" rIns="0" tIns="0" bIns="0">
            <a:spAutoFit/>
          </a:bodyPr>
          <a:lstStyle/>
          <a:p>
            <a:pPr algn="l">
              <a:lnSpc>
                <a:spcPct val="130000"/>
              </a:lnSpc>
            </a:pPr>
            <a:r>
              <a:rPr sz="1300" b="0" i="0">
                <a:solidFill>
                  <a:srgbClr val="3A464E"/>
                </a:solidFill>
                <a:latin typeface="Calibri"/>
              </a:rPr>
              <a:t>②の14件のうち5件がstrykerで占められる。以下、①②それぞれの根本原因をコードレベルで特定した。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65760"/>
            <a:ext cx="2743200" cy="292608"/>
          </a:xfrm>
          <a:prstGeom prst="roundRect">
            <a:avLst>
              <a:gd name="adj" fmla="val 50000"/>
            </a:avLst>
          </a:prstGeom>
          <a:noFill/>
          <a:ln w="15875">
            <a:solidFill>
              <a:srgbClr val="D0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2560320" cy="228600"/>
          </a:xfrm>
          <a:prstGeom prst="rect">
            <a:avLst/>
          </a:prstGeom>
          <a:noFill/>
        </p:spPr>
        <p:txBody>
          <a:bodyPr wrap="square" lIns="0" rIns="0" tIns="0" bIns="0">
            <a:spAutoFit/>
          </a:bodyPr>
          <a:lstStyle/>
          <a:p>
            <a:pPr algn="l">
              <a:lnSpc>
                <a:spcPct val="115000"/>
              </a:lnSpc>
            </a:pPr>
            <a:r>
              <a:rPr sz="1100" b="1" i="0">
                <a:solidFill>
                  <a:srgbClr val="D03B3B"/>
                </a:solidFill>
                <a:latin typeface="Consolas"/>
              </a:rPr>
              <a:t>発見 1 — 根本原因（入口側）</a:t>
            </a:r>
          </a:p>
        </p:txBody>
      </p:sp>
      <p:sp>
        <p:nvSpPr>
          <p:cNvPr id="5" name="TextBox 4"/>
          <p:cNvSpPr txBox="1"/>
          <p:nvPr/>
        </p:nvSpPr>
        <p:spPr>
          <a:xfrm>
            <a:off x="502920" y="777240"/>
            <a:ext cx="11185855" cy="548640"/>
          </a:xfrm>
          <a:prstGeom prst="rect">
            <a:avLst/>
          </a:prstGeom>
          <a:noFill/>
        </p:spPr>
        <p:txBody>
          <a:bodyPr wrap="square" lIns="0" rIns="0" tIns="0" bIns="0">
            <a:spAutoFit/>
          </a:bodyPr>
          <a:lstStyle/>
          <a:p>
            <a:pPr algn="l">
              <a:lnSpc>
                <a:spcPct val="115000"/>
              </a:lnSpc>
            </a:pPr>
            <a:r>
              <a:rPr sz="2200" b="1" i="0">
                <a:solidFill>
                  <a:srgbClr val="131A20"/>
                </a:solidFill>
                <a:latin typeface="Georgia"/>
              </a:rPr>
              <a:t>文字列マッチングが「断片一致」を「完全一致」より高く評価する</a:t>
            </a:r>
          </a:p>
        </p:txBody>
      </p:sp>
      <p:sp>
        <p:nvSpPr>
          <p:cNvPr id="6" name="TextBox 5"/>
          <p:cNvSpPr txBox="1"/>
          <p:nvPr/>
        </p:nvSpPr>
        <p:spPr>
          <a:xfrm>
            <a:off x="502920" y="1298448"/>
            <a:ext cx="11185855" cy="274320"/>
          </a:xfrm>
          <a:prstGeom prst="rect">
            <a:avLst/>
          </a:prstGeom>
          <a:noFill/>
        </p:spPr>
        <p:txBody>
          <a:bodyPr wrap="square" lIns="0" rIns="0" tIns="0" bIns="0">
            <a:spAutoFit/>
          </a:bodyPr>
          <a:lstStyle/>
          <a:p>
            <a:pPr algn="l">
              <a:lnSpc>
                <a:spcPct val="115000"/>
              </a:lnSpc>
            </a:pPr>
            <a:r>
              <a:rPr sz="1200" b="0" i="0">
                <a:solidFill>
                  <a:srgbClr val="58666F"/>
                </a:solidFill>
                <a:latin typeface="Consolas"/>
              </a:rPr>
              <a:t>OCR/only_one_tilted.py :: match_book_name()  —  マスク選択ロジック</a:t>
            </a:r>
          </a:p>
        </p:txBody>
      </p:sp>
      <p:cxnSp>
        <p:nvCxnSpPr>
          <p:cNvPr id="7" name="Connector 6"/>
          <p:cNvCxnSpPr/>
          <p:nvPr/>
        </p:nvCxnSpPr>
        <p:spPr>
          <a:xfrm>
            <a:off x="502920" y="1627632"/>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1783080"/>
            <a:ext cx="11185855" cy="914400"/>
          </a:xfrm>
          <a:prstGeom prst="rect">
            <a:avLst/>
          </a:prstGeom>
          <a:noFill/>
        </p:spPr>
        <p:txBody>
          <a:bodyPr wrap="square" lIns="0" rIns="0" tIns="0" bIns="0">
            <a:spAutoFit/>
          </a:bodyPr>
          <a:lstStyle/>
          <a:p>
            <a:pPr algn="l">
              <a:lnSpc>
                <a:spcPct val="135000"/>
              </a:lnSpc>
            </a:pPr>
            <a:r>
              <a:rPr sz="1350" b="0" i="0">
                <a:solidFill>
                  <a:srgbClr val="3A464E"/>
                </a:solidFill>
                <a:latin typeface="Calibri"/>
              </a:rPr>
              <a:t>SAM2は1枚の画像から十数〜二十個の候補マスクを生成する。各候補にOCR文字列を割り当て、</a:t>
            </a:r>
          </a:p>
          <a:p>
            <a:pPr algn="l">
              <a:lnSpc>
                <a:spcPct val="135000"/>
              </a:lnSpc>
            </a:pPr>
            <a:r>
              <a:rPr sz="1350" b="0" i="0">
                <a:solidFill>
                  <a:srgbClr val="3A464E"/>
                </a:solidFill>
                <a:latin typeface="Calibri"/>
              </a:rPr>
              <a:t>fuzz.partial_ratioでクエリとの類似度を計算し、最高スコアのマスクをそのまま採用する。</a:t>
            </a:r>
          </a:p>
          <a:p>
            <a:pPr algn="l">
              <a:lnSpc>
                <a:spcPct val="135000"/>
              </a:lnSpc>
            </a:pPr>
            <a:r>
              <a:rPr sz="1350" b="0" i="0">
                <a:solidFill>
                  <a:srgbClr val="3A464E"/>
                </a:solidFill>
                <a:latin typeface="Calibri"/>
              </a:rPr>
              <a:t>この関数には「マスクの大きさが妥当か」を見る仕組みが一切ない。</a:t>
            </a:r>
          </a:p>
        </p:txBody>
      </p:sp>
      <p:sp>
        <p:nvSpPr>
          <p:cNvPr id="9" name="Rounded Rectangle 8"/>
          <p:cNvSpPr/>
          <p:nvPr/>
        </p:nvSpPr>
        <p:spPr>
          <a:xfrm>
            <a:off x="502920" y="2788920"/>
            <a:ext cx="11185855" cy="2697480"/>
          </a:xfrm>
          <a:prstGeom prst="roundRect">
            <a:avLst>
              <a:gd name="adj" fmla="val 5000"/>
            </a:avLst>
          </a:prstGeom>
          <a:solidFill>
            <a:srgbClr val="131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935224"/>
            <a:ext cx="10637215" cy="274320"/>
          </a:xfrm>
          <a:prstGeom prst="rect">
            <a:avLst/>
          </a:prstGeom>
          <a:noFill/>
        </p:spPr>
        <p:txBody>
          <a:bodyPr wrap="square" lIns="0" rIns="0" tIns="0" bIns="0">
            <a:spAutoFit/>
          </a:bodyPr>
          <a:lstStyle/>
          <a:p>
            <a:pPr algn="l">
              <a:lnSpc>
                <a:spcPct val="115000"/>
              </a:lnSpc>
            </a:pPr>
            <a:r>
              <a:rPr sz="1100" b="1" i="0">
                <a:solidFill>
                  <a:srgbClr val="B9C3C8"/>
                </a:solidFill>
                <a:latin typeface="Consolas"/>
              </a:rPr>
              <a:t>FIG. 4 — Test 29（Medtronic Riptide）のマッチングスコア  ·  similarity_scores.json</a:t>
            </a:r>
          </a:p>
        </p:txBody>
      </p:sp>
      <p:sp>
        <p:nvSpPr>
          <p:cNvPr id="11" name="TextBox 10"/>
          <p:cNvSpPr txBox="1"/>
          <p:nvPr/>
        </p:nvSpPr>
        <p:spPr>
          <a:xfrm>
            <a:off x="777240" y="3291840"/>
            <a:ext cx="10637215" cy="2103120"/>
          </a:xfrm>
          <a:prstGeom prst="rect">
            <a:avLst/>
          </a:prstGeom>
          <a:noFill/>
        </p:spPr>
        <p:txBody>
          <a:bodyPr wrap="square">
            <a:spAutoFit/>
          </a:bodyPr>
          <a:lstStyle/>
          <a:p>
            <a:pPr>
              <a:lnSpc>
                <a:spcPct val="120000"/>
              </a:lnSpc>
            </a:pPr>
            <a:r>
              <a:rPr sz="1200" b="0">
                <a:solidFill>
                  <a:srgbClr val="C7CFD3"/>
                </a:solidFill>
                <a:latin typeface="Consolas"/>
              </a:rPr>
              <a:t>クエリ: "Medtronic Riptide Large Bore Aspiration Tubing REF MAT-110-110 112(284cm)"</a:t>
            </a:r>
          </a:p>
          <a:p>
            <a:pPr>
              <a:lnSpc>
                <a:spcPct val="120000"/>
              </a:lnSpc>
            </a:pPr>
            <a:r>
              <a:rPr sz="1200" b="0">
                <a:solidFill>
                  <a:srgbClr val="C7CFD3"/>
                </a:solidFill>
                <a:latin typeface="Consolas"/>
              </a:rPr>
              <a:t> </a:t>
            </a:r>
          </a:p>
          <a:p>
            <a:pPr>
              <a:lnSpc>
                <a:spcPct val="120000"/>
              </a:lnSpc>
            </a:pPr>
            <a:r>
              <a:rPr sz="1200" b="1">
                <a:solidFill>
                  <a:srgbClr val="D03B3B"/>
                </a:solidFill>
                <a:latin typeface="Consolas"/>
              </a:rPr>
              <a:t>mask_20   score 100   text: "Medtronic"                    ← 採用</a:t>
            </a:r>
          </a:p>
          <a:p>
            <a:pPr>
              <a:lnSpc>
                <a:spcPct val="120000"/>
              </a:lnSpc>
            </a:pPr>
            <a:r>
              <a:rPr sz="1200" b="1">
                <a:solidFill>
                  <a:srgbClr val="D03B3B"/>
                </a:solidFill>
                <a:latin typeface="Consolas"/>
              </a:rPr>
              <a:t>           マスク面積:  824 px（本来の約1/25）</a:t>
            </a:r>
          </a:p>
          <a:p>
            <a:pPr>
              <a:lnSpc>
                <a:spcPct val="120000"/>
              </a:lnSpc>
            </a:pPr>
            <a:r>
              <a:rPr sz="1200" b="0">
                <a:solidFill>
                  <a:srgbClr val="C7CFD3"/>
                </a:solidFill>
                <a:latin typeface="Consolas"/>
              </a:rPr>
              <a:t> </a:t>
            </a:r>
          </a:p>
          <a:p>
            <a:pPr>
              <a:lnSpc>
                <a:spcPct val="120000"/>
              </a:lnSpc>
            </a:pPr>
            <a:r>
              <a:rPr sz="1200" b="0">
                <a:solidFill>
                  <a:srgbClr val="4AD98A"/>
                </a:solidFill>
                <a:latin typeface="Consolas"/>
              </a:rPr>
              <a:t>mask_16   score  94   text: "Medtronic RiptideLargeBore</a:t>
            </a:r>
          </a:p>
          <a:p>
            <a:pPr>
              <a:lnSpc>
                <a:spcPct val="120000"/>
              </a:lnSpc>
            </a:pPr>
            <a:r>
              <a:rPr sz="1200" b="0">
                <a:solidFill>
                  <a:srgbClr val="4AD98A"/>
                </a:solidFill>
                <a:latin typeface="Consolas"/>
              </a:rPr>
              <a:t>          AspirationTubl REF MAT-110-110 112"（284cm）"  ← 本来の正解</a:t>
            </a:r>
          </a:p>
          <a:p>
            <a:pPr>
              <a:lnSpc>
                <a:spcPct val="120000"/>
              </a:lnSpc>
            </a:pPr>
            <a:r>
              <a:rPr sz="1200" b="0">
                <a:solidFill>
                  <a:srgbClr val="4AD98A"/>
                </a:solidFill>
                <a:latin typeface="Consolas"/>
              </a:rPr>
              <a:t>           マスク面積: 20,536 px</a:t>
            </a:r>
          </a:p>
        </p:txBody>
      </p:sp>
      <p:sp>
        <p:nvSpPr>
          <p:cNvPr id="12" name="TextBox 11"/>
          <p:cNvSpPr txBox="1"/>
          <p:nvPr/>
        </p:nvSpPr>
        <p:spPr>
          <a:xfrm>
            <a:off x="502920" y="5650992"/>
            <a:ext cx="11185855" cy="365760"/>
          </a:xfrm>
          <a:prstGeom prst="rect">
            <a:avLst/>
          </a:prstGeom>
          <a:noFill/>
        </p:spPr>
        <p:txBody>
          <a:bodyPr wrap="square" lIns="0" rIns="0" tIns="0" bIns="0">
            <a:spAutoFit/>
          </a:bodyPr>
          <a:lstStyle/>
          <a:p>
            <a:pPr algn="l">
              <a:lnSpc>
                <a:spcPct val="115000"/>
              </a:lnSpc>
            </a:pPr>
            <a:r>
              <a:rPr sz="1150" b="0" i="0">
                <a:solidFill>
                  <a:srgbClr val="58666F"/>
                </a:solidFill>
                <a:latin typeface="Consolas"/>
              </a:rPr>
              <a:t>「Medtronic」の9文字だけがクエリ先頭と完璧に一致するため score=100。OCRノイズを含む正解全文は score=94 に留まり不採用。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85572"/>
            <a:ext cx="88900" cy="889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347472"/>
            <a:ext cx="8229600" cy="274320"/>
          </a:xfrm>
          <a:prstGeom prst="rect">
            <a:avLst/>
          </a:prstGeom>
          <a:noFill/>
        </p:spPr>
        <p:txBody>
          <a:bodyPr wrap="square" lIns="0" rIns="0" tIns="0" bIns="0">
            <a:spAutoFit/>
          </a:bodyPr>
          <a:lstStyle/>
          <a:p>
            <a:pPr algn="l">
              <a:lnSpc>
                <a:spcPct val="115000"/>
              </a:lnSpc>
            </a:pPr>
            <a:r>
              <a:rPr sz="1100" b="1" i="0">
                <a:solidFill>
                  <a:srgbClr val="58666F"/>
                </a:solidFill>
                <a:latin typeface="Consolas"/>
              </a:rPr>
              <a:t>04  ·  書籍幅推定 誤差原因調査</a:t>
            </a:r>
          </a:p>
        </p:txBody>
      </p:sp>
      <p:sp>
        <p:nvSpPr>
          <p:cNvPr id="5" name="TextBox 4"/>
          <p:cNvSpPr txBox="1"/>
          <p:nvPr/>
        </p:nvSpPr>
        <p:spPr>
          <a:xfrm>
            <a:off x="502920" y="658368"/>
            <a:ext cx="11185855" cy="640080"/>
          </a:xfrm>
          <a:prstGeom prst="rect">
            <a:avLst/>
          </a:prstGeom>
          <a:noFill/>
        </p:spPr>
        <p:txBody>
          <a:bodyPr wrap="square" lIns="0" rIns="0" tIns="0" bIns="0">
            <a:spAutoFit/>
          </a:bodyPr>
          <a:lstStyle/>
          <a:p>
            <a:pPr algn="l">
              <a:lnSpc>
                <a:spcPct val="115000"/>
              </a:lnSpc>
            </a:pPr>
            <a:r>
              <a:rPr sz="2800" b="1" i="0">
                <a:solidFill>
                  <a:srgbClr val="131A20"/>
                </a:solidFill>
                <a:latin typeface="Georgia"/>
              </a:rPr>
              <a:t>同型の事例とstrykerへの波及</a:t>
            </a:r>
          </a:p>
        </p:txBody>
      </p:sp>
      <p:cxnSp>
        <p:nvCxnSpPr>
          <p:cNvPr id="6" name="Connector 5"/>
          <p:cNvCxnSpPr/>
          <p:nvPr/>
        </p:nvCxnSpPr>
        <p:spPr>
          <a:xfrm>
            <a:off x="502920" y="1298448"/>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463040"/>
            <a:ext cx="11185855" cy="274320"/>
          </a:xfrm>
          <a:prstGeom prst="rect">
            <a:avLst/>
          </a:prstGeom>
          <a:noFill/>
        </p:spPr>
        <p:txBody>
          <a:bodyPr wrap="square" lIns="0" rIns="0" tIns="0" bIns="0">
            <a:spAutoFit/>
          </a:bodyPr>
          <a:lstStyle/>
          <a:p>
            <a:pPr algn="l">
              <a:lnSpc>
                <a:spcPct val="115000"/>
              </a:lnSpc>
            </a:pPr>
            <a:r>
              <a:rPr sz="1300" b="1" i="0">
                <a:solidFill>
                  <a:srgbClr val="131A20"/>
                </a:solidFill>
                <a:latin typeface="Calibri"/>
              </a:rPr>
              <a:t>同型の事例（他3件・すべて fail に帰結）</a:t>
            </a:r>
          </a:p>
        </p:txBody>
      </p:sp>
      <p:graphicFrame>
        <p:nvGraphicFramePr>
          <p:cNvPr id="8" name="Table 7"/>
          <p:cNvGraphicFramePr>
            <a:graphicFrameLocks noGrp="1"/>
          </p:cNvGraphicFramePr>
          <p:nvPr/>
        </p:nvGraphicFramePr>
        <p:xfrm>
          <a:off x="502920" y="1828800"/>
          <a:ext cx="11064240" cy="1371600"/>
        </p:xfrm>
        <a:graphic>
          <a:graphicData uri="http://schemas.openxmlformats.org/drawingml/2006/table">
            <a:tbl>
              <a:tblPr firstRow="1" bandRow="1">
                <a:tableStyleId>{5C22544A-7EE6-4342-B048-85BDC9FD1C3A}</a:tableStyleId>
              </a:tblPr>
              <a:tblGrid>
                <a:gridCol w="1005840"/>
                <a:gridCol w="4114800"/>
                <a:gridCol w="4572000"/>
                <a:gridCol w="1371600"/>
              </a:tblGrid>
              <a:tr h="342900">
                <a:tc>
                  <a:txBody>
                    <a:bodyPr wrap="square"/>
                    <a:lstStyle/>
                    <a:p>
                      <a:pPr algn="l"/>
                      <a:r>
                        <a:rPr sz="1100" b="1">
                          <a:solidFill>
                            <a:srgbClr val="58666F"/>
                          </a:solidFill>
                          <a:latin typeface="Consolas"/>
                        </a:rPr>
                        <a:t>ケース</a:t>
                      </a:r>
                    </a:p>
                  </a:txBody>
                  <a:tcPr anchor="ctr" marL="101600" marR="101600" marT="50800" marB="50800">
                    <a:solidFill>
                      <a:srgbClr val="EEF1F2"/>
                    </a:solidFill>
                  </a:tcPr>
                </a:tc>
                <a:tc>
                  <a:txBody>
                    <a:bodyPr wrap="square"/>
                    <a:lstStyle/>
                    <a:p>
                      <a:pPr algn="l"/>
                      <a:r>
                        <a:rPr sz="1100" b="1">
                          <a:solidFill>
                            <a:srgbClr val="58666F"/>
                          </a:solidFill>
                          <a:latin typeface="Consolas"/>
                        </a:rPr>
                        <a:t>正しいはずの書籍</a:t>
                      </a:r>
                    </a:p>
                  </a:txBody>
                  <a:tcPr anchor="ctr" marL="101600" marR="101600" marT="50800" marB="50800">
                    <a:solidFill>
                      <a:srgbClr val="EEF1F2"/>
                    </a:solidFill>
                  </a:tcPr>
                </a:tc>
                <a:tc>
                  <a:txBody>
                    <a:bodyPr wrap="square"/>
                    <a:lstStyle/>
                    <a:p>
                      <a:pPr algn="l"/>
                      <a:r>
                        <a:rPr sz="1100" b="1">
                          <a:solidFill>
                            <a:srgbClr val="58666F"/>
                          </a:solidFill>
                          <a:latin typeface="Consolas"/>
                        </a:rPr>
                        <a:t>実際に勝ったテキスト断片</a:t>
                      </a:r>
                    </a:p>
                  </a:txBody>
                  <a:tcPr anchor="ctr" marL="101600" marR="101600" marT="50800" marB="50800">
                    <a:solidFill>
                      <a:srgbClr val="EEF1F2"/>
                    </a:solidFill>
                  </a:tcPr>
                </a:tc>
                <a:tc>
                  <a:txBody>
                    <a:bodyPr wrap="square"/>
                    <a:lstStyle/>
                    <a:p>
                      <a:pPr algn="r"/>
                      <a:r>
                        <a:rPr sz="1100" b="1">
                          <a:solidFill>
                            <a:srgbClr val="58666F"/>
                          </a:solidFill>
                          <a:latin typeface="Consolas"/>
                        </a:rPr>
                        <a:t>スコア</a:t>
                      </a:r>
                    </a:p>
                  </a:txBody>
                  <a:tcPr anchor="ctr" marL="101600" marR="101600" marT="50800" marB="50800">
                    <a:solidFill>
                      <a:srgbClr val="EEF1F2"/>
                    </a:solidFill>
                  </a:tcPr>
                </a:tc>
              </a:tr>
              <a:tr h="342900">
                <a:tc>
                  <a:txBody>
                    <a:bodyPr wrap="square"/>
                    <a:lstStyle/>
                    <a:p>
                      <a:pPr algn="l"/>
                      <a:r>
                        <a:rPr sz="1200" b="0">
                          <a:solidFill>
                            <a:srgbClr val="3A464E"/>
                          </a:solidFill>
                          <a:latin typeface="Consolas"/>
                        </a:rPr>
                        <a:t>#28</a:t>
                      </a:r>
                    </a:p>
                  </a:txBody>
                  <a:tcPr anchor="ctr" marL="101600" marR="101600" marT="50800" marB="50800">
                    <a:solidFill>
                      <a:srgbClr val="FFFFFF"/>
                    </a:solidFill>
                  </a:tcPr>
                </a:tc>
                <a:tc>
                  <a:txBody>
                    <a:bodyPr wrap="square"/>
                    <a:lstStyle/>
                    <a:p>
                      <a:pPr algn="l"/>
                      <a:r>
                        <a:rPr sz="1200" b="0">
                          <a:solidFill>
                            <a:srgbClr val="3A464E"/>
                          </a:solidFill>
                          <a:latin typeface="Calibri"/>
                        </a:rPr>
                        <a:t>Medtronic Phenom 21 Catheter</a:t>
                      </a:r>
                    </a:p>
                  </a:txBody>
                  <a:tcPr anchor="ctr" marL="101600" marR="101600" marT="50800" marB="50800">
                    <a:solidFill>
                      <a:srgbClr val="FFFFFF"/>
                    </a:solidFill>
                  </a:tcPr>
                </a:tc>
                <a:tc>
                  <a:txBody>
                    <a:bodyPr wrap="square"/>
                    <a:lstStyle/>
                    <a:p>
                      <a:pPr algn="l"/>
                      <a:r>
                        <a:rPr sz="1200" b="0">
                          <a:solidFill>
                            <a:srgbClr val="3A464E"/>
                          </a:solidFill>
                          <a:latin typeface="Consolas"/>
                        </a:rPr>
                        <a:t>"Medtronic"</a:t>
                      </a:r>
                    </a:p>
                  </a:txBody>
                  <a:tcPr anchor="ctr" marL="101600" marR="101600" marT="50800" marB="50800">
                    <a:solidFill>
                      <a:srgbClr val="FFFFFF"/>
                    </a:solidFill>
                  </a:tcPr>
                </a:tc>
                <a:tc>
                  <a:txBody>
                    <a:bodyPr wrap="square"/>
                    <a:lstStyle/>
                    <a:p>
                      <a:pPr algn="r"/>
                      <a:r>
                        <a:rPr sz="1200" b="0">
                          <a:solidFill>
                            <a:srgbClr val="3A464E"/>
                          </a:solidFill>
                          <a:latin typeface="Consolas"/>
                        </a:rPr>
                        <a:t>100</a:t>
                      </a:r>
                    </a:p>
                  </a:txBody>
                  <a:tcPr anchor="ctr" marL="101600" marR="101600" marT="50800" marB="50800">
                    <a:solidFill>
                      <a:srgbClr val="FFFFFF"/>
                    </a:solidFill>
                  </a:tcPr>
                </a:tc>
              </a:tr>
              <a:tr h="342900">
                <a:tc>
                  <a:txBody>
                    <a:bodyPr wrap="square"/>
                    <a:lstStyle/>
                    <a:p>
                      <a:pPr algn="l"/>
                      <a:r>
                        <a:rPr sz="1200" b="0">
                          <a:solidFill>
                            <a:srgbClr val="3A464E"/>
                          </a:solidFill>
                          <a:latin typeface="Consolas"/>
                        </a:rPr>
                        <a:t>#11</a:t>
                      </a:r>
                    </a:p>
                  </a:txBody>
                  <a:tcPr anchor="ctr" marL="101600" marR="101600" marT="50800" marB="50800">
                    <a:solidFill>
                      <a:srgbClr val="FFFFFF"/>
                    </a:solidFill>
                  </a:tcPr>
                </a:tc>
                <a:tc>
                  <a:txBody>
                    <a:bodyPr wrap="square"/>
                    <a:lstStyle/>
                    <a:p>
                      <a:pPr algn="l"/>
                      <a:r>
                        <a:rPr sz="1200" b="0">
                          <a:solidFill>
                            <a:srgbClr val="3A464E"/>
                          </a:solidFill>
                          <a:latin typeface="Calibri"/>
                        </a:rPr>
                        <a:t>TransForm</a:t>
                      </a:r>
                    </a:p>
                  </a:txBody>
                  <a:tcPr anchor="ctr" marL="101600" marR="101600" marT="50800" marB="50800">
                    <a:solidFill>
                      <a:srgbClr val="FFFFFF"/>
                    </a:solidFill>
                  </a:tcPr>
                </a:tc>
                <a:tc>
                  <a:txBody>
                    <a:bodyPr wrap="square"/>
                    <a:lstStyle/>
                    <a:p>
                      <a:pPr algn="l"/>
                      <a:r>
                        <a:rPr sz="1200" b="0">
                          <a:solidFill>
                            <a:srgbClr val="3A464E"/>
                          </a:solidFill>
                          <a:latin typeface="Consolas"/>
                        </a:rPr>
                        <a:t>"TransForm SUPERCOMPLIANT SC"</a:t>
                      </a:r>
                    </a:p>
                  </a:txBody>
                  <a:tcPr anchor="ctr" marL="101600" marR="101600" marT="50800" marB="50800">
                    <a:solidFill>
                      <a:srgbClr val="FFFFFF"/>
                    </a:solidFill>
                  </a:tcPr>
                </a:tc>
                <a:tc>
                  <a:txBody>
                    <a:bodyPr wrap="square"/>
                    <a:lstStyle/>
                    <a:p>
                      <a:pPr algn="r"/>
                      <a:r>
                        <a:rPr sz="1200" b="0">
                          <a:solidFill>
                            <a:srgbClr val="3A464E"/>
                          </a:solidFill>
                          <a:latin typeface="Consolas"/>
                        </a:rPr>
                        <a:t>100</a:t>
                      </a:r>
                    </a:p>
                  </a:txBody>
                  <a:tcPr anchor="ctr" marL="101600" marR="101600" marT="50800" marB="50800">
                    <a:solidFill>
                      <a:srgbClr val="FFFFFF"/>
                    </a:solidFill>
                  </a:tcPr>
                </a:tc>
              </a:tr>
              <a:tr h="342900">
                <a:tc>
                  <a:txBody>
                    <a:bodyPr wrap="square"/>
                    <a:lstStyle/>
                    <a:p>
                      <a:pPr algn="l"/>
                      <a:r>
                        <a:rPr sz="1200" b="0">
                          <a:solidFill>
                            <a:srgbClr val="3A464E"/>
                          </a:solidFill>
                          <a:latin typeface="Consolas"/>
                        </a:rPr>
                        <a:t>#99</a:t>
                      </a:r>
                    </a:p>
                  </a:txBody>
                  <a:tcPr anchor="ctr" marL="101600" marR="101600" marT="50800" marB="50800">
                    <a:solidFill>
                      <a:srgbClr val="FFFFFF"/>
                    </a:solidFill>
                  </a:tcPr>
                </a:tc>
                <a:tc>
                  <a:txBody>
                    <a:bodyPr wrap="square"/>
                    <a:lstStyle/>
                    <a:p>
                      <a:pPr algn="l"/>
                      <a:r>
                        <a:rPr sz="1200" b="0">
                          <a:solidFill>
                            <a:srgbClr val="3A464E"/>
                          </a:solidFill>
                          <a:latin typeface="Calibri"/>
                        </a:rPr>
                        <a:t>stryker UPN: M00345100950</a:t>
                      </a:r>
                    </a:p>
                  </a:txBody>
                  <a:tcPr anchor="ctr" marL="101600" marR="101600" marT="50800" marB="50800">
                    <a:solidFill>
                      <a:srgbClr val="FFFFFF"/>
                    </a:solidFill>
                  </a:tcPr>
                </a:tc>
                <a:tc>
                  <a:txBody>
                    <a:bodyPr wrap="square"/>
                    <a:lstStyle/>
                    <a:p>
                      <a:pPr algn="l"/>
                      <a:r>
                        <a:rPr sz="1200" b="0">
                          <a:solidFill>
                            <a:srgbClr val="3A464E"/>
                          </a:solidFill>
                          <a:latin typeface="Consolas"/>
                        </a:rPr>
                        <a:t>"Medtronic"（誤った書籍の断片）</a:t>
                      </a:r>
                    </a:p>
                  </a:txBody>
                  <a:tcPr anchor="ctr" marL="101600" marR="101600" marT="50800" marB="50800">
                    <a:solidFill>
                      <a:srgbClr val="FFFFFF"/>
                    </a:solidFill>
                  </a:tcPr>
                </a:tc>
                <a:tc>
                  <a:txBody>
                    <a:bodyPr wrap="square"/>
                    <a:lstStyle/>
                    <a:p>
                      <a:pPr algn="r"/>
                      <a:r>
                        <a:rPr sz="1200" b="0">
                          <a:solidFill>
                            <a:srgbClr val="3A464E"/>
                          </a:solidFill>
                          <a:latin typeface="Consolas"/>
                        </a:rPr>
                        <a:t>100</a:t>
                      </a:r>
                    </a:p>
                  </a:txBody>
                  <a:tcPr anchor="ctr" marL="101600" marR="101600" marT="50800" marB="50800">
                    <a:solidFill>
                      <a:srgbClr val="FFFFFF"/>
                    </a:solidFill>
                  </a:tcPr>
                </a:tc>
              </a:tr>
            </a:tbl>
          </a:graphicData>
        </a:graphic>
      </p:graphicFrame>
      <p:sp>
        <p:nvSpPr>
          <p:cNvPr id="9" name="TextBox 8"/>
          <p:cNvSpPr txBox="1"/>
          <p:nvPr/>
        </p:nvSpPr>
        <p:spPr>
          <a:xfrm>
            <a:off x="502920" y="3337560"/>
            <a:ext cx="11185855" cy="320040"/>
          </a:xfrm>
          <a:prstGeom prst="rect">
            <a:avLst/>
          </a:prstGeom>
          <a:noFill/>
        </p:spPr>
        <p:txBody>
          <a:bodyPr wrap="square" lIns="0" rIns="0" tIns="0" bIns="0">
            <a:spAutoFit/>
          </a:bodyPr>
          <a:lstStyle/>
          <a:p>
            <a:pPr algn="l">
              <a:lnSpc>
                <a:spcPct val="115000"/>
              </a:lnSpc>
            </a:pPr>
            <a:r>
              <a:rPr sz="1150" b="0" i="0">
                <a:solidFill>
                  <a:srgbClr val="58666F"/>
                </a:solidFill>
                <a:latin typeface="Consolas"/>
              </a:rPr>
              <a:t>同じ棚に複数の商品ラベルが写り込むと、無関係な書籍の断片がクエリの一部と一致し誤って選ばれる。</a:t>
            </a:r>
          </a:p>
        </p:txBody>
      </p:sp>
      <p:sp>
        <p:nvSpPr>
          <p:cNvPr id="10" name="TextBox 9"/>
          <p:cNvSpPr txBox="1"/>
          <p:nvPr/>
        </p:nvSpPr>
        <p:spPr>
          <a:xfrm>
            <a:off x="502920" y="3794760"/>
            <a:ext cx="11185855" cy="548640"/>
          </a:xfrm>
          <a:prstGeom prst="rect">
            <a:avLst/>
          </a:prstGeom>
          <a:noFill/>
        </p:spPr>
        <p:txBody>
          <a:bodyPr wrap="square" lIns="0" rIns="0" tIns="0" bIns="0">
            <a:spAutoFit/>
          </a:bodyPr>
          <a:lstStyle/>
          <a:p>
            <a:pPr algn="l">
              <a:lnSpc>
                <a:spcPct val="130000"/>
              </a:lnSpc>
            </a:pPr>
            <a:r>
              <a:rPr sz="1300" b="0" i="0">
                <a:solidFill>
                  <a:srgbClr val="3A464E"/>
                </a:solidFill>
                <a:latin typeface="Calibri"/>
              </a:rPr>
              <a:t>strykerの「マスクが常に約2倍」問題も同根：1枚の画像内に"stryker"の文字列が11回以上出現し、</a:t>
            </a:r>
          </a:p>
          <a:p>
            <a:pPr algn="l">
              <a:lnSpc>
                <a:spcPct val="130000"/>
              </a:lnSpc>
            </a:pPr>
            <a:r>
              <a:rPr sz="1300" b="0" i="0">
                <a:solidFill>
                  <a:srgbClr val="3A464E"/>
                </a:solidFill>
                <a:latin typeface="Calibri"/>
              </a:rPr>
              <a:t>面積1,000〜92,000pxとバラバラな別々のSAMマスクに割り当てられていた。</a:t>
            </a:r>
          </a:p>
        </p:txBody>
      </p:sp>
      <p:sp>
        <p:nvSpPr>
          <p:cNvPr id="11" name="TextBox 10"/>
          <p:cNvSpPr txBox="1"/>
          <p:nvPr/>
        </p:nvSpPr>
        <p:spPr>
          <a:xfrm>
            <a:off x="502920" y="4526280"/>
            <a:ext cx="11185855" cy="274320"/>
          </a:xfrm>
          <a:prstGeom prst="rect">
            <a:avLst/>
          </a:prstGeom>
          <a:noFill/>
        </p:spPr>
        <p:txBody>
          <a:bodyPr wrap="square" lIns="0" rIns="0" tIns="0" bIns="0">
            <a:spAutoFit/>
          </a:bodyPr>
          <a:lstStyle/>
          <a:p>
            <a:pPr algn="l">
              <a:lnSpc>
                <a:spcPct val="115000"/>
              </a:lnSpc>
            </a:pPr>
            <a:r>
              <a:rPr sz="1200" b="1" i="0">
                <a:solidFill>
                  <a:srgbClr val="2A78D6"/>
                </a:solidFill>
                <a:latin typeface="Consolas"/>
              </a:rPr>
              <a:t>FIG. 5 — stryker：3段階の誤差はほぼ変化しない</a:t>
            </a:r>
          </a:p>
        </p:txBody>
      </p:sp>
      <p:graphicFrame>
        <p:nvGraphicFramePr>
          <p:cNvPr id="12" name="Table 11"/>
          <p:cNvGraphicFramePr>
            <a:graphicFrameLocks noGrp="1"/>
          </p:cNvGraphicFramePr>
          <p:nvPr/>
        </p:nvGraphicFramePr>
        <p:xfrm>
          <a:off x="502920" y="4846320"/>
          <a:ext cx="11064240" cy="1051560"/>
        </p:xfrm>
        <a:graphic>
          <a:graphicData uri="http://schemas.openxmlformats.org/drawingml/2006/table">
            <a:tbl>
              <a:tblPr firstRow="1" bandRow="1">
                <a:tableStyleId>{5C22544A-7EE6-4342-B048-85BDC9FD1C3A}</a:tableStyleId>
              </a:tblPr>
              <a:tblGrid>
                <a:gridCol w="3931920"/>
                <a:gridCol w="2560320"/>
                <a:gridCol w="2377440"/>
                <a:gridCol w="2194560"/>
              </a:tblGrid>
              <a:tr h="350520">
                <a:tc>
                  <a:txBody>
                    <a:bodyPr wrap="square"/>
                    <a:lstStyle/>
                    <a:p>
                      <a:pPr algn="l"/>
                      <a:r>
                        <a:rPr sz="1100" b="1">
                          <a:solidFill>
                            <a:srgbClr val="58666F"/>
                          </a:solidFill>
                          <a:latin typeface="Consolas"/>
                        </a:rPr>
                        <a:t>ラウンド</a:t>
                      </a:r>
                    </a:p>
                  </a:txBody>
                  <a:tcPr anchor="ctr" marL="101600" marR="101600" marT="50800" marB="50800">
                    <a:solidFill>
                      <a:srgbClr val="EEF1F2"/>
                    </a:solidFill>
                  </a:tcPr>
                </a:tc>
                <a:tc>
                  <a:txBody>
                    <a:bodyPr wrap="square"/>
                    <a:lstStyle/>
                    <a:p>
                      <a:pPr algn="r"/>
                      <a:r>
                        <a:rPr sz="1100" b="1">
                          <a:solidFill>
                            <a:srgbClr val="58666F"/>
                          </a:solidFill>
                          <a:latin typeface="Consolas"/>
                        </a:rPr>
                        <a:t>誤差0（生マスク）</a:t>
                      </a:r>
                    </a:p>
                  </a:txBody>
                  <a:tcPr anchor="ctr" marL="101600" marR="101600" marT="50800" marB="50800">
                    <a:solidFill>
                      <a:srgbClr val="EEF1F2"/>
                    </a:solidFill>
                  </a:tcPr>
                </a:tc>
                <a:tc>
                  <a:txBody>
                    <a:bodyPr wrap="square"/>
                    <a:lstStyle/>
                    <a:p>
                      <a:pPr algn="r"/>
                      <a:r>
                        <a:rPr sz="1100" b="1">
                          <a:solidFill>
                            <a:srgbClr val="58666F"/>
                          </a:solidFill>
                          <a:latin typeface="Consolas"/>
                        </a:rPr>
                        <a:t>誤差1（整形後）</a:t>
                      </a:r>
                    </a:p>
                  </a:txBody>
                  <a:tcPr anchor="ctr" marL="101600" marR="101600" marT="50800" marB="50800">
                    <a:solidFill>
                      <a:srgbClr val="EEF1F2"/>
                    </a:solidFill>
                  </a:tcPr>
                </a:tc>
                <a:tc>
                  <a:txBody>
                    <a:bodyPr wrap="square"/>
                    <a:lstStyle/>
                    <a:p>
                      <a:pPr algn="r"/>
                      <a:r>
                        <a:rPr sz="1100" b="1">
                          <a:solidFill>
                            <a:srgbClr val="58666F"/>
                          </a:solidFill>
                          <a:latin typeface="Consolas"/>
                        </a:rPr>
                        <a:t>誤差2（最終）</a:t>
                      </a:r>
                    </a:p>
                  </a:txBody>
                  <a:tcPr anchor="ctr" marL="101600" marR="101600" marT="50800" marB="50800">
                    <a:solidFill>
                      <a:srgbClr val="EEF1F2"/>
                    </a:solidFill>
                  </a:tcPr>
                </a:tc>
              </a:tr>
              <a:tr h="350520">
                <a:tc>
                  <a:txBody>
                    <a:bodyPr wrap="square"/>
                    <a:lstStyle/>
                    <a:p>
                      <a:pPr algn="l"/>
                      <a:r>
                        <a:rPr sz="1200" b="0">
                          <a:solidFill>
                            <a:srgbClr val="3A464E"/>
                          </a:solidFill>
                          <a:latin typeface="Consolas"/>
                        </a:rPr>
                        <a:t>R1 / R3 / R5 / R6 / R7 / R8</a:t>
                      </a:r>
                    </a:p>
                  </a:txBody>
                  <a:tcPr anchor="ctr" marL="101600" marR="101600" marT="50800" marB="50800">
                    <a:solidFill>
                      <a:srgbClr val="FFFFFF"/>
                    </a:solidFill>
                  </a:tcPr>
                </a:tc>
                <a:tc>
                  <a:txBody>
                    <a:bodyPr wrap="square"/>
                    <a:lstStyle/>
                    <a:p>
                      <a:pPr algn="r"/>
                      <a:r>
                        <a:rPr sz="1200" b="0">
                          <a:solidFill>
                            <a:srgbClr val="D03B3B"/>
                          </a:solidFill>
                          <a:latin typeface="Consolas"/>
                        </a:rPr>
                        <a:t>+18.1 〜 +29.4mm</a:t>
                      </a:r>
                    </a:p>
                  </a:txBody>
                  <a:tcPr anchor="ctr" marL="101600" marR="101600" marT="50800" marB="50800">
                    <a:solidFill>
                      <a:srgbClr val="FFFFFF"/>
                    </a:solidFill>
                  </a:tcPr>
                </a:tc>
                <a:tc>
                  <a:txBody>
                    <a:bodyPr wrap="square"/>
                    <a:lstStyle/>
                    <a:p>
                      <a:pPr algn="r"/>
                      <a:r>
                        <a:rPr sz="1200" b="0">
                          <a:solidFill>
                            <a:srgbClr val="D03B3B"/>
                          </a:solidFill>
                          <a:latin typeface="Consolas"/>
                        </a:rPr>
                        <a:t>+16.2 〜 +25.6mm</a:t>
                      </a:r>
                    </a:p>
                  </a:txBody>
                  <a:tcPr anchor="ctr" marL="101600" marR="101600" marT="50800" marB="50800">
                    <a:solidFill>
                      <a:srgbClr val="FFFFFF"/>
                    </a:solidFill>
                  </a:tcPr>
                </a:tc>
                <a:tc>
                  <a:txBody>
                    <a:bodyPr wrap="square"/>
                    <a:lstStyle/>
                    <a:p>
                      <a:pPr algn="r"/>
                      <a:r>
                        <a:rPr sz="1200" b="0">
                          <a:solidFill>
                            <a:srgbClr val="D03B3B"/>
                          </a:solidFill>
                          <a:latin typeface="Consolas"/>
                        </a:rPr>
                        <a:t>+18.1 〜 +25.7mm</a:t>
                      </a:r>
                    </a:p>
                  </a:txBody>
                  <a:tcPr anchor="ctr" marL="101600" marR="101600" marT="50800" marB="50800">
                    <a:solidFill>
                      <a:srgbClr val="FFFFFF"/>
                    </a:solidFill>
                  </a:tcPr>
                </a:tc>
              </a:tr>
              <a:tr h="350520">
                <a:tc>
                  <a:txBody>
                    <a:bodyPr wrap="square"/>
                    <a:lstStyle/>
                    <a:p>
                      <a:pPr algn="l"/>
                      <a:r>
                        <a:rPr sz="1200" b="0">
                          <a:solidFill>
                            <a:srgbClr val="3A464E"/>
                          </a:solidFill>
                          <a:latin typeface="Consolas"/>
                        </a:rPr>
                        <a:t>R2 / R4 / R9 / R10</a:t>
                      </a:r>
                    </a:p>
                  </a:txBody>
                  <a:tcPr anchor="ctr" marL="101600" marR="101600" marT="50800" marB="50800">
                    <a:solidFill>
                      <a:srgbClr val="FBE9E7"/>
                    </a:solidFill>
                  </a:tcPr>
                </a:tc>
                <a:tc>
                  <a:txBody>
                    <a:bodyPr wrap="square"/>
                    <a:lstStyle/>
                    <a:p>
                      <a:pPr algn="r"/>
                      <a:r>
                        <a:rPr sz="1200" b="0">
                          <a:solidFill>
                            <a:srgbClr val="B8860A"/>
                          </a:solidFill>
                          <a:latin typeface="Consolas"/>
                        </a:rPr>
                        <a:t>-1.1 〜 -6.3mm</a:t>
                      </a:r>
                    </a:p>
                  </a:txBody>
                  <a:tcPr anchor="ctr" marL="101600" marR="101600" marT="50800" marB="50800">
                    <a:solidFill>
                      <a:srgbClr val="FBE9E7"/>
                    </a:solidFill>
                  </a:tcPr>
                </a:tc>
                <a:tc>
                  <a:txBody>
                    <a:bodyPr wrap="square"/>
                    <a:lstStyle/>
                    <a:p>
                      <a:pPr algn="r"/>
                      <a:r>
                        <a:rPr sz="1200" b="0">
                          <a:solidFill>
                            <a:srgbClr val="B8860A"/>
                          </a:solidFill>
                          <a:latin typeface="Consolas"/>
                        </a:rPr>
                        <a:t>同左・悪化</a:t>
                      </a:r>
                    </a:p>
                  </a:txBody>
                  <a:tcPr anchor="ctr" marL="101600" marR="101600" marT="50800" marB="50800">
                    <a:solidFill>
                      <a:srgbClr val="FBE9E7"/>
                    </a:solidFill>
                  </a:tcPr>
                </a:tc>
                <a:tc>
                  <a:txBody>
                    <a:bodyPr wrap="square"/>
                    <a:lstStyle/>
                    <a:p>
                      <a:pPr algn="r"/>
                      <a:r>
                        <a:rPr sz="1200" b="0">
                          <a:solidFill>
                            <a:srgbClr val="B8860A"/>
                          </a:solidFill>
                          <a:latin typeface="Consolas"/>
                        </a:rPr>
                        <a:t>fail（クラッシュ）</a:t>
                      </a:r>
                    </a:p>
                  </a:txBody>
                  <a:tcPr anchor="ctr" marL="101600" marR="101600" marT="50800" marB="50800">
                    <a:solidFill>
                      <a:srgbClr val="FBE9E7"/>
                    </a:solidFill>
                  </a:tcPr>
                </a:tc>
              </a:tr>
            </a:tbl>
          </a:graphicData>
        </a:graphic>
      </p:graphicFrame>
      <p:sp>
        <p:nvSpPr>
          <p:cNvPr id="13" name="TextBox 12"/>
          <p:cNvSpPr txBox="1"/>
          <p:nvPr/>
        </p:nvSpPr>
        <p:spPr>
          <a:xfrm>
            <a:off x="502920" y="6035040"/>
            <a:ext cx="11185855" cy="365760"/>
          </a:xfrm>
          <a:prstGeom prst="rect">
            <a:avLst/>
          </a:prstGeom>
          <a:noFill/>
        </p:spPr>
        <p:txBody>
          <a:bodyPr wrap="square" lIns="0" rIns="0" tIns="0" bIns="0">
            <a:spAutoFit/>
          </a:bodyPr>
          <a:lstStyle/>
          <a:p>
            <a:pPr algn="l">
              <a:lnSpc>
                <a:spcPct val="115000"/>
              </a:lnSpc>
            </a:pPr>
            <a:r>
              <a:rPr sz="1150" b="0" i="0">
                <a:solidFill>
                  <a:srgbClr val="58666F"/>
                </a:solidFill>
                <a:latin typeface="Consolas"/>
              </a:rPr>
              <a:t>成功ラウンドは深度フィルタより前から既に約2倍（誤差0≈誤差1≈誤差2）。以降の工程はほぼ何も変えていない。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65760"/>
            <a:ext cx="2743200" cy="292608"/>
          </a:xfrm>
          <a:prstGeom prst="roundRect">
            <a:avLst>
              <a:gd name="adj" fmla="val 50000"/>
            </a:avLst>
          </a:prstGeom>
          <a:noFill/>
          <a:ln w="15875">
            <a:solidFill>
              <a:srgbClr val="D0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2560320" cy="228600"/>
          </a:xfrm>
          <a:prstGeom prst="rect">
            <a:avLst/>
          </a:prstGeom>
          <a:noFill/>
        </p:spPr>
        <p:txBody>
          <a:bodyPr wrap="square" lIns="0" rIns="0" tIns="0" bIns="0">
            <a:spAutoFit/>
          </a:bodyPr>
          <a:lstStyle/>
          <a:p>
            <a:pPr algn="l">
              <a:lnSpc>
                <a:spcPct val="115000"/>
              </a:lnSpc>
            </a:pPr>
            <a:r>
              <a:rPr sz="1100" b="1" i="0">
                <a:solidFill>
                  <a:srgbClr val="D03B3B"/>
                </a:solidFill>
                <a:latin typeface="Consolas"/>
              </a:rPr>
              <a:t>発見 2 — 根本原因（出口側）</a:t>
            </a:r>
          </a:p>
        </p:txBody>
      </p:sp>
      <p:sp>
        <p:nvSpPr>
          <p:cNvPr id="5" name="TextBox 4"/>
          <p:cNvSpPr txBox="1"/>
          <p:nvPr/>
        </p:nvSpPr>
        <p:spPr>
          <a:xfrm>
            <a:off x="502920" y="777240"/>
            <a:ext cx="11185855" cy="548640"/>
          </a:xfrm>
          <a:prstGeom prst="rect">
            <a:avLst/>
          </a:prstGeom>
          <a:noFill/>
        </p:spPr>
        <p:txBody>
          <a:bodyPr wrap="square" lIns="0" rIns="0" tIns="0" bIns="0">
            <a:spAutoFit/>
          </a:bodyPr>
          <a:lstStyle/>
          <a:p>
            <a:pPr algn="l">
              <a:lnSpc>
                <a:spcPct val="115000"/>
              </a:lnSpc>
            </a:pPr>
            <a:r>
              <a:rPr sz="2200" b="1" i="0">
                <a:solidFill>
                  <a:srgbClr val="131A20"/>
                </a:solidFill>
                <a:latin typeface="Georgia"/>
              </a:rPr>
              <a:t>最終幅計算(M1)が外れ値に弱く、方向性なく暴れる</a:t>
            </a:r>
          </a:p>
        </p:txBody>
      </p:sp>
      <p:sp>
        <p:nvSpPr>
          <p:cNvPr id="6" name="TextBox 5"/>
          <p:cNvSpPr txBox="1"/>
          <p:nvPr/>
        </p:nvSpPr>
        <p:spPr>
          <a:xfrm>
            <a:off x="502920" y="1298448"/>
            <a:ext cx="11185855" cy="274320"/>
          </a:xfrm>
          <a:prstGeom prst="rect">
            <a:avLst/>
          </a:prstGeom>
          <a:noFill/>
        </p:spPr>
        <p:txBody>
          <a:bodyPr wrap="square" lIns="0" rIns="0" tIns="0" bIns="0">
            <a:spAutoFit/>
          </a:bodyPr>
          <a:lstStyle/>
          <a:p>
            <a:pPr algn="l">
              <a:lnSpc>
                <a:spcPct val="115000"/>
              </a:lnSpc>
            </a:pPr>
            <a:r>
              <a:rPr sz="1200" b="0" i="0">
                <a:solidFill>
                  <a:srgbClr val="58666F"/>
                </a:solidFill>
                <a:latin typeface="Consolas"/>
              </a:rPr>
              <a:t>get_book_points.py :: estimate_book_width_from_filtered_mask_axis()（2317行目）</a:t>
            </a:r>
          </a:p>
        </p:txBody>
      </p:sp>
      <p:cxnSp>
        <p:nvCxnSpPr>
          <p:cNvPr id="7" name="Connector 6"/>
          <p:cNvCxnSpPr/>
          <p:nvPr/>
        </p:nvCxnSpPr>
        <p:spPr>
          <a:xfrm>
            <a:off x="502920" y="1627632"/>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02920" y="1810512"/>
            <a:ext cx="292608" cy="292608"/>
          </a:xfrm>
          <a:prstGeom prst="ellipse">
            <a:avLst/>
          </a:prstGeom>
          <a:solidFill>
            <a:srgbClr val="E4EEFA"/>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2A78D6"/>
                </a:solidFill>
                <a:latin typeface="Consolas"/>
              </a:rPr>
              <a:t>1</a:t>
            </a:r>
          </a:p>
        </p:txBody>
      </p:sp>
      <p:sp>
        <p:nvSpPr>
          <p:cNvPr id="9" name="TextBox 8"/>
          <p:cNvSpPr txBox="1"/>
          <p:nvPr/>
        </p:nvSpPr>
        <p:spPr>
          <a:xfrm>
            <a:off x="960120" y="1792224"/>
            <a:ext cx="10728655" cy="274320"/>
          </a:xfrm>
          <a:prstGeom prst="rect">
            <a:avLst/>
          </a:prstGeom>
          <a:noFill/>
        </p:spPr>
        <p:txBody>
          <a:bodyPr wrap="square" lIns="0" rIns="0" tIns="0" bIns="0">
            <a:spAutoFit/>
          </a:bodyPr>
          <a:lstStyle/>
          <a:p>
            <a:pPr algn="l">
              <a:lnSpc>
                <a:spcPct val="115000"/>
              </a:lnSpc>
            </a:pPr>
            <a:r>
              <a:rPr sz="1350" b="1" i="0">
                <a:solidFill>
                  <a:srgbClr val="131A20"/>
                </a:solidFill>
                <a:latin typeface="Calibri"/>
              </a:rPr>
              <a:t>軸・中心点が使い回される</a:t>
            </a:r>
          </a:p>
        </p:txBody>
      </p:sp>
      <p:sp>
        <p:nvSpPr>
          <p:cNvPr id="10" name="TextBox 9"/>
          <p:cNvSpPr txBox="1"/>
          <p:nvPr/>
        </p:nvSpPr>
        <p:spPr>
          <a:xfrm>
            <a:off x="960120" y="2084832"/>
            <a:ext cx="10728655" cy="457200"/>
          </a:xfrm>
          <a:prstGeom prst="rect">
            <a:avLst/>
          </a:prstGeom>
          <a:noFill/>
        </p:spPr>
        <p:txBody>
          <a:bodyPr wrap="square" lIns="0" rIns="0" tIns="0" bIns="0">
            <a:spAutoFit/>
          </a:bodyPr>
          <a:lstStyle/>
          <a:p>
            <a:pPr algn="l">
              <a:lnSpc>
                <a:spcPct val="125000"/>
              </a:lnSpc>
            </a:pPr>
            <a:r>
              <a:rPr sz="1150" b="0" i="0">
                <a:solidFill>
                  <a:srgbClr val="3A464E"/>
                </a:solidFill>
                <a:latin typeface="Calibri"/>
              </a:rPr>
              <a:t>直前の列長さフィルタ工程で決めたaxis/centerをそのまま使い、その後さらにマスクを削るapply_final_t_width_clipを経ても再計算しない。</a:t>
            </a:r>
          </a:p>
        </p:txBody>
      </p:sp>
      <p:sp>
        <p:nvSpPr>
          <p:cNvPr id="11" name="Oval 10"/>
          <p:cNvSpPr/>
          <p:nvPr/>
        </p:nvSpPr>
        <p:spPr>
          <a:xfrm>
            <a:off x="502920" y="2587752"/>
            <a:ext cx="292608" cy="292608"/>
          </a:xfrm>
          <a:prstGeom prst="ellipse">
            <a:avLst/>
          </a:prstGeom>
          <a:solidFill>
            <a:srgbClr val="E4EEFA"/>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2A78D6"/>
                </a:solidFill>
                <a:latin typeface="Consolas"/>
              </a:rPr>
              <a:t>2</a:t>
            </a:r>
          </a:p>
        </p:txBody>
      </p:sp>
      <p:sp>
        <p:nvSpPr>
          <p:cNvPr id="12" name="TextBox 11"/>
          <p:cNvSpPr txBox="1"/>
          <p:nvPr/>
        </p:nvSpPr>
        <p:spPr>
          <a:xfrm>
            <a:off x="960120" y="2569464"/>
            <a:ext cx="10728655" cy="274320"/>
          </a:xfrm>
          <a:prstGeom prst="rect">
            <a:avLst/>
          </a:prstGeom>
          <a:noFill/>
        </p:spPr>
        <p:txBody>
          <a:bodyPr wrap="square" lIns="0" rIns="0" tIns="0" bIns="0">
            <a:spAutoFit/>
          </a:bodyPr>
          <a:lstStyle/>
          <a:p>
            <a:pPr algn="l">
              <a:lnSpc>
                <a:spcPct val="115000"/>
              </a:lnSpc>
            </a:pPr>
            <a:r>
              <a:rPr sz="1350" b="1" i="0">
                <a:solidFill>
                  <a:srgbClr val="131A20"/>
                </a:solidFill>
                <a:latin typeface="Calibri"/>
              </a:rPr>
              <a:t>外れ値に弱い一括パーセンタイル計算</a:t>
            </a:r>
          </a:p>
        </p:txBody>
      </p:sp>
      <p:sp>
        <p:nvSpPr>
          <p:cNvPr id="13" name="TextBox 12"/>
          <p:cNvSpPr txBox="1"/>
          <p:nvPr/>
        </p:nvSpPr>
        <p:spPr>
          <a:xfrm>
            <a:off x="960120" y="2862072"/>
            <a:ext cx="10728655" cy="457200"/>
          </a:xfrm>
          <a:prstGeom prst="rect">
            <a:avLst/>
          </a:prstGeom>
          <a:noFill/>
        </p:spPr>
        <p:txBody>
          <a:bodyPr wrap="square" lIns="0" rIns="0" tIns="0" bIns="0">
            <a:spAutoFit/>
          </a:bodyPr>
          <a:lstStyle/>
          <a:p>
            <a:pPr algn="l">
              <a:lnSpc>
                <a:spcPct val="125000"/>
              </a:lnSpc>
            </a:pPr>
            <a:r>
              <a:rPr sz="1150" b="0" i="0">
                <a:solidFill>
                  <a:srgbClr val="3A464E"/>
                </a:solidFill>
                <a:latin typeface="Calibri"/>
              </a:rPr>
              <a:t>マスク段階が使う「長辺方向にスライスして各区間幅の中央値を取る」堅牢な方式と違い、最終計算は全有効画素に対して2%〜98%パーセンタイルの幅を一括で取るだけ。</a:t>
            </a:r>
          </a:p>
        </p:txBody>
      </p:sp>
      <p:sp>
        <p:nvSpPr>
          <p:cNvPr id="14" name="TextBox 13"/>
          <p:cNvSpPr txBox="1"/>
          <p:nvPr/>
        </p:nvSpPr>
        <p:spPr>
          <a:xfrm>
            <a:off x="502920" y="3502152"/>
            <a:ext cx="11185855" cy="274320"/>
          </a:xfrm>
          <a:prstGeom prst="rect">
            <a:avLst/>
          </a:prstGeom>
          <a:noFill/>
        </p:spPr>
        <p:txBody>
          <a:bodyPr wrap="square" lIns="0" rIns="0" tIns="0" bIns="0">
            <a:spAutoFit/>
          </a:bodyPr>
          <a:lstStyle/>
          <a:p>
            <a:pPr algn="l">
              <a:lnSpc>
                <a:spcPct val="115000"/>
              </a:lnSpc>
            </a:pPr>
            <a:r>
              <a:rPr sz="1200" b="1" i="0">
                <a:solidFill>
                  <a:srgbClr val="2A78D6"/>
                </a:solidFill>
                <a:latin typeface="Consolas"/>
              </a:rPr>
              <a:t>FIG. 6 — マスク段階は正常なのに、最終手法で暴れる（誤差1→誤差2, mm）</a:t>
            </a:r>
          </a:p>
        </p:txBody>
      </p:sp>
      <p:graphicFrame>
        <p:nvGraphicFramePr>
          <p:cNvPr id="15" name="Table 14"/>
          <p:cNvGraphicFramePr>
            <a:graphicFrameLocks noGrp="1"/>
          </p:cNvGraphicFramePr>
          <p:nvPr/>
        </p:nvGraphicFramePr>
        <p:xfrm>
          <a:off x="502920" y="3822192"/>
          <a:ext cx="10972800" cy="1874519"/>
        </p:xfrm>
        <a:graphic>
          <a:graphicData uri="http://schemas.openxmlformats.org/drawingml/2006/table">
            <a:tbl>
              <a:tblPr firstRow="1" bandRow="1">
                <a:tableStyleId>{5C22544A-7EE6-4342-B048-85BDC9FD1C3A}</a:tableStyleId>
              </a:tblPr>
              <a:tblGrid>
                <a:gridCol w="914400"/>
                <a:gridCol w="3017520"/>
                <a:gridCol w="2194560"/>
                <a:gridCol w="2194560"/>
                <a:gridCol w="2651760"/>
              </a:tblGrid>
              <a:tr h="374903">
                <a:tc>
                  <a:txBody>
                    <a:bodyPr wrap="square"/>
                    <a:lstStyle/>
                    <a:p>
                      <a:pPr algn="l"/>
                      <a:r>
                        <a:rPr sz="1100" b="1">
                          <a:solidFill>
                            <a:srgbClr val="58666F"/>
                          </a:solidFill>
                          <a:latin typeface="Consolas"/>
                        </a:rPr>
                        <a:t>ケース</a:t>
                      </a:r>
                    </a:p>
                  </a:txBody>
                  <a:tcPr anchor="ctr" marL="101600" marR="101600" marT="50800" marB="50800">
                    <a:solidFill>
                      <a:srgbClr val="EEF1F2"/>
                    </a:solidFill>
                  </a:tcPr>
                </a:tc>
                <a:tc>
                  <a:txBody>
                    <a:bodyPr wrap="square"/>
                    <a:lstStyle/>
                    <a:p>
                      <a:pPr algn="l"/>
                      <a:r>
                        <a:rPr sz="1100" b="1">
                          <a:solidFill>
                            <a:srgbClr val="58666F"/>
                          </a:solidFill>
                          <a:latin typeface="Consolas"/>
                        </a:rPr>
                        <a:t>書籍</a:t>
                      </a:r>
                    </a:p>
                  </a:txBody>
                  <a:tcPr anchor="ctr" marL="101600" marR="101600" marT="50800" marB="50800">
                    <a:solidFill>
                      <a:srgbClr val="EEF1F2"/>
                    </a:solidFill>
                  </a:tcPr>
                </a:tc>
                <a:tc>
                  <a:txBody>
                    <a:bodyPr wrap="square"/>
                    <a:lstStyle/>
                    <a:p>
                      <a:pPr algn="r"/>
                      <a:r>
                        <a:rPr sz="1100" b="1">
                          <a:solidFill>
                            <a:srgbClr val="58666F"/>
                          </a:solidFill>
                          <a:latin typeface="Consolas"/>
                        </a:rPr>
                        <a:t>誤差1</a:t>
                      </a:r>
                    </a:p>
                  </a:txBody>
                  <a:tcPr anchor="ctr" marL="101600" marR="101600" marT="50800" marB="50800">
                    <a:solidFill>
                      <a:srgbClr val="EEF1F2"/>
                    </a:solidFill>
                  </a:tcPr>
                </a:tc>
                <a:tc>
                  <a:txBody>
                    <a:bodyPr wrap="square"/>
                    <a:lstStyle/>
                    <a:p>
                      <a:pPr algn="r"/>
                      <a:r>
                        <a:rPr sz="1100" b="1">
                          <a:solidFill>
                            <a:srgbClr val="58666F"/>
                          </a:solidFill>
                          <a:latin typeface="Consolas"/>
                        </a:rPr>
                        <a:t>誤差2</a:t>
                      </a:r>
                    </a:p>
                  </a:txBody>
                  <a:tcPr anchor="ctr" marL="101600" marR="101600" marT="50800" marB="50800">
                    <a:solidFill>
                      <a:srgbClr val="EEF1F2"/>
                    </a:solidFill>
                  </a:tcPr>
                </a:tc>
                <a:tc>
                  <a:txBody>
                    <a:bodyPr wrap="square"/>
                    <a:lstStyle/>
                    <a:p>
                      <a:pPr algn="r"/>
                      <a:r>
                        <a:rPr sz="1100" b="1">
                          <a:solidFill>
                            <a:srgbClr val="58666F"/>
                          </a:solidFill>
                          <a:latin typeface="Consolas"/>
                        </a:rPr>
                        <a:t>増減</a:t>
                      </a:r>
                    </a:p>
                  </a:txBody>
                  <a:tcPr anchor="ctr" marL="101600" marR="101600" marT="50800" marB="50800">
                    <a:solidFill>
                      <a:srgbClr val="EEF1F2"/>
                    </a:solidFill>
                  </a:tcPr>
                </a:tc>
              </a:tr>
              <a:tr h="374903">
                <a:tc>
                  <a:txBody>
                    <a:bodyPr wrap="square"/>
                    <a:lstStyle/>
                    <a:p>
                      <a:pPr algn="l"/>
                      <a:r>
                        <a:rPr sz="1200" b="0">
                          <a:solidFill>
                            <a:srgbClr val="3A464E"/>
                          </a:solidFill>
                          <a:latin typeface="Consolas"/>
                        </a:rPr>
                        <a:t>#89</a:t>
                      </a:r>
                    </a:p>
                  </a:txBody>
                  <a:tcPr anchor="ctr" marL="101600" marR="101600" marT="50800" marB="50800">
                    <a:solidFill>
                      <a:srgbClr val="FBE9E7"/>
                    </a:solidFill>
                  </a:tcPr>
                </a:tc>
                <a:tc>
                  <a:txBody>
                    <a:bodyPr wrap="square"/>
                    <a:lstStyle/>
                    <a:p>
                      <a:pPr algn="l"/>
                      <a:r>
                        <a:rPr sz="1200" b="0">
                          <a:solidFill>
                            <a:srgbClr val="3A464E"/>
                          </a:solidFill>
                          <a:latin typeface="Calibri"/>
                        </a:rPr>
                        <a:t>Medtronic Riptide</a:t>
                      </a:r>
                    </a:p>
                  </a:txBody>
                  <a:tcPr anchor="ctr" marL="101600" marR="101600" marT="50800" marB="50800">
                    <a:solidFill>
                      <a:srgbClr val="FBE9E7"/>
                    </a:solidFill>
                  </a:tcPr>
                </a:tc>
                <a:tc>
                  <a:txBody>
                    <a:bodyPr wrap="square"/>
                    <a:lstStyle/>
                    <a:p>
                      <a:pPr algn="r"/>
                      <a:r>
                        <a:rPr sz="1200" b="0">
                          <a:solidFill>
                            <a:srgbClr val="0CA30C"/>
                          </a:solidFill>
                          <a:latin typeface="Consolas"/>
                        </a:rPr>
                        <a:t>+1.8mm</a:t>
                      </a:r>
                    </a:p>
                  </a:txBody>
                  <a:tcPr anchor="ctr" marL="101600" marR="101600" marT="50800" marB="50800">
                    <a:solidFill>
                      <a:srgbClr val="FBE9E7"/>
                    </a:solidFill>
                  </a:tcPr>
                </a:tc>
                <a:tc>
                  <a:txBody>
                    <a:bodyPr wrap="square"/>
                    <a:lstStyle/>
                    <a:p>
                      <a:pPr algn="r"/>
                      <a:r>
                        <a:rPr sz="1200" b="0">
                          <a:solidFill>
                            <a:srgbClr val="D03B3B"/>
                          </a:solidFill>
                          <a:latin typeface="Consolas"/>
                        </a:rPr>
                        <a:t>+53.4mm</a:t>
                      </a:r>
                    </a:p>
                  </a:txBody>
                  <a:tcPr anchor="ctr" marL="101600" marR="101600" marT="50800" marB="50800">
                    <a:solidFill>
                      <a:srgbClr val="FBE9E7"/>
                    </a:solidFill>
                  </a:tcPr>
                </a:tc>
                <a:tc>
                  <a:txBody>
                    <a:bodyPr wrap="square"/>
                    <a:lstStyle/>
                    <a:p>
                      <a:pPr algn="r"/>
                      <a:r>
                        <a:rPr sz="1200" b="0">
                          <a:solidFill>
                            <a:srgbClr val="D03B3B"/>
                          </a:solidFill>
                          <a:latin typeface="Consolas"/>
                        </a:rPr>
                        <a:t>+51.7mm</a:t>
                      </a:r>
                    </a:p>
                  </a:txBody>
                  <a:tcPr anchor="ctr" marL="101600" marR="101600" marT="50800" marB="50800">
                    <a:solidFill>
                      <a:srgbClr val="FBE9E7"/>
                    </a:solidFill>
                  </a:tcPr>
                </a:tc>
              </a:tr>
              <a:tr h="374903">
                <a:tc>
                  <a:txBody>
                    <a:bodyPr wrap="square"/>
                    <a:lstStyle/>
                    <a:p>
                      <a:pPr algn="l"/>
                      <a:r>
                        <a:rPr sz="1200" b="0">
                          <a:solidFill>
                            <a:srgbClr val="3A464E"/>
                          </a:solidFill>
                          <a:latin typeface="Consolas"/>
                        </a:rPr>
                        <a:t>#64</a:t>
                      </a:r>
                    </a:p>
                  </a:txBody>
                  <a:tcPr anchor="ctr" marL="101600" marR="101600" marT="50800" marB="50800">
                    <a:solidFill>
                      <a:srgbClr val="FBE9E7"/>
                    </a:solidFill>
                  </a:tcPr>
                </a:tc>
                <a:tc>
                  <a:txBody>
                    <a:bodyPr wrap="square"/>
                    <a:lstStyle/>
                    <a:p>
                      <a:pPr algn="l"/>
                      <a:r>
                        <a:rPr sz="1200" b="0">
                          <a:solidFill>
                            <a:srgbClr val="3A464E"/>
                          </a:solidFill>
                          <a:latin typeface="Calibri"/>
                        </a:rPr>
                        <a:t>Eccelsior® XT-27</a:t>
                      </a:r>
                    </a:p>
                  </a:txBody>
                  <a:tcPr anchor="ctr" marL="101600" marR="101600" marT="50800" marB="50800">
                    <a:solidFill>
                      <a:srgbClr val="FBE9E7"/>
                    </a:solidFill>
                  </a:tcPr>
                </a:tc>
                <a:tc>
                  <a:txBody>
                    <a:bodyPr wrap="square"/>
                    <a:lstStyle/>
                    <a:p>
                      <a:pPr algn="r"/>
                      <a:r>
                        <a:rPr sz="1200" b="0">
                          <a:solidFill>
                            <a:srgbClr val="0CA30C"/>
                          </a:solidFill>
                          <a:latin typeface="Consolas"/>
                        </a:rPr>
                        <a:t>+4.4mm</a:t>
                      </a:r>
                    </a:p>
                  </a:txBody>
                  <a:tcPr anchor="ctr" marL="101600" marR="101600" marT="50800" marB="50800">
                    <a:solidFill>
                      <a:srgbClr val="FBE9E7"/>
                    </a:solidFill>
                  </a:tcPr>
                </a:tc>
                <a:tc>
                  <a:txBody>
                    <a:bodyPr wrap="square"/>
                    <a:lstStyle/>
                    <a:p>
                      <a:pPr algn="r"/>
                      <a:r>
                        <a:rPr sz="1200" b="0">
                          <a:solidFill>
                            <a:srgbClr val="D03B3B"/>
                          </a:solidFill>
                          <a:latin typeface="Consolas"/>
                        </a:rPr>
                        <a:t>+46.8mm</a:t>
                      </a:r>
                    </a:p>
                  </a:txBody>
                  <a:tcPr anchor="ctr" marL="101600" marR="101600" marT="50800" marB="50800">
                    <a:solidFill>
                      <a:srgbClr val="FBE9E7"/>
                    </a:solidFill>
                  </a:tcPr>
                </a:tc>
                <a:tc>
                  <a:txBody>
                    <a:bodyPr wrap="square"/>
                    <a:lstStyle/>
                    <a:p>
                      <a:pPr algn="r"/>
                      <a:r>
                        <a:rPr sz="1200" b="0">
                          <a:solidFill>
                            <a:srgbClr val="D03B3B"/>
                          </a:solidFill>
                          <a:latin typeface="Consolas"/>
                        </a:rPr>
                        <a:t>+42.4mm</a:t>
                      </a:r>
                    </a:p>
                  </a:txBody>
                  <a:tcPr anchor="ctr" marL="101600" marR="101600" marT="50800" marB="50800">
                    <a:solidFill>
                      <a:srgbClr val="FBE9E7"/>
                    </a:solidFill>
                  </a:tcPr>
                </a:tc>
              </a:tr>
              <a:tr h="374903">
                <a:tc>
                  <a:txBody>
                    <a:bodyPr wrap="square"/>
                    <a:lstStyle/>
                    <a:p>
                      <a:pPr algn="l"/>
                      <a:r>
                        <a:rPr sz="1200" b="0">
                          <a:solidFill>
                            <a:srgbClr val="3A464E"/>
                          </a:solidFill>
                          <a:latin typeface="Consolas"/>
                        </a:rPr>
                        <a:t>#54</a:t>
                      </a:r>
                    </a:p>
                  </a:txBody>
                  <a:tcPr anchor="ctr" marL="101600" marR="101600" marT="50800" marB="50800">
                    <a:solidFill>
                      <a:srgbClr val="FBE9E7"/>
                    </a:solidFill>
                  </a:tcPr>
                </a:tc>
                <a:tc>
                  <a:txBody>
                    <a:bodyPr wrap="square"/>
                    <a:lstStyle/>
                    <a:p>
                      <a:pPr algn="l"/>
                      <a:r>
                        <a:rPr sz="1200" b="0">
                          <a:solidFill>
                            <a:srgbClr val="3A464E"/>
                          </a:solidFill>
                          <a:latin typeface="Calibri"/>
                        </a:rPr>
                        <a:t>Eccelsior® XT-27</a:t>
                      </a:r>
                    </a:p>
                  </a:txBody>
                  <a:tcPr anchor="ctr" marL="101600" marR="101600" marT="50800" marB="50800">
                    <a:solidFill>
                      <a:srgbClr val="FBE9E7"/>
                    </a:solidFill>
                  </a:tcPr>
                </a:tc>
                <a:tc>
                  <a:txBody>
                    <a:bodyPr wrap="square"/>
                    <a:lstStyle/>
                    <a:p>
                      <a:pPr algn="r"/>
                      <a:r>
                        <a:rPr sz="1200" b="0">
                          <a:solidFill>
                            <a:srgbClr val="0CA30C"/>
                          </a:solidFill>
                          <a:latin typeface="Consolas"/>
                        </a:rPr>
                        <a:t>+1.0mm</a:t>
                      </a:r>
                    </a:p>
                  </a:txBody>
                  <a:tcPr anchor="ctr" marL="101600" marR="101600" marT="50800" marB="50800">
                    <a:solidFill>
                      <a:srgbClr val="FBE9E7"/>
                    </a:solidFill>
                  </a:tcPr>
                </a:tc>
                <a:tc>
                  <a:txBody>
                    <a:bodyPr wrap="square"/>
                    <a:lstStyle/>
                    <a:p>
                      <a:pPr algn="r"/>
                      <a:r>
                        <a:rPr sz="1200" b="0">
                          <a:solidFill>
                            <a:srgbClr val="D03B3B"/>
                          </a:solidFill>
                          <a:latin typeface="Consolas"/>
                        </a:rPr>
                        <a:t>+24.1mm</a:t>
                      </a:r>
                    </a:p>
                  </a:txBody>
                  <a:tcPr anchor="ctr" marL="101600" marR="101600" marT="50800" marB="50800">
                    <a:solidFill>
                      <a:srgbClr val="FBE9E7"/>
                    </a:solidFill>
                  </a:tcPr>
                </a:tc>
                <a:tc>
                  <a:txBody>
                    <a:bodyPr wrap="square"/>
                    <a:lstStyle/>
                    <a:p>
                      <a:pPr algn="r"/>
                      <a:r>
                        <a:rPr sz="1200" b="0">
                          <a:solidFill>
                            <a:srgbClr val="D03B3B"/>
                          </a:solidFill>
                          <a:latin typeface="Consolas"/>
                        </a:rPr>
                        <a:t>+23.0mm</a:t>
                      </a:r>
                    </a:p>
                  </a:txBody>
                  <a:tcPr anchor="ctr" marL="101600" marR="101600" marT="50800" marB="50800">
                    <a:solidFill>
                      <a:srgbClr val="FBE9E7"/>
                    </a:solidFill>
                  </a:tcPr>
                </a:tc>
              </a:tr>
              <a:tr h="374907">
                <a:tc>
                  <a:txBody>
                    <a:bodyPr wrap="square"/>
                    <a:lstStyle/>
                    <a:p>
                      <a:pPr algn="l"/>
                      <a:r>
                        <a:rPr sz="1200" b="0">
                          <a:solidFill>
                            <a:srgbClr val="3A464E"/>
                          </a:solidFill>
                          <a:latin typeface="Consolas"/>
                        </a:rPr>
                        <a:t>#34</a:t>
                      </a:r>
                    </a:p>
                  </a:txBody>
                  <a:tcPr anchor="ctr" marL="101600" marR="101600" marT="50800" marB="50800">
                    <a:solidFill>
                      <a:srgbClr val="FFFFFF"/>
                    </a:solidFill>
                  </a:tcPr>
                </a:tc>
                <a:tc>
                  <a:txBody>
                    <a:bodyPr wrap="square"/>
                    <a:lstStyle/>
                    <a:p>
                      <a:pPr algn="l"/>
                      <a:r>
                        <a:rPr sz="1200" b="0">
                          <a:solidFill>
                            <a:srgbClr val="3A464E"/>
                          </a:solidFill>
                          <a:latin typeface="Calibri"/>
                        </a:rPr>
                        <a:t>Eccelsior® XT-27</a:t>
                      </a:r>
                    </a:p>
                  </a:txBody>
                  <a:tcPr anchor="ctr" marL="101600" marR="101600" marT="50800" marB="50800">
                    <a:solidFill>
                      <a:srgbClr val="FFFFFF"/>
                    </a:solidFill>
                  </a:tcPr>
                </a:tc>
                <a:tc>
                  <a:txBody>
                    <a:bodyPr wrap="square"/>
                    <a:lstStyle/>
                    <a:p>
                      <a:pPr algn="r"/>
                      <a:r>
                        <a:rPr sz="1200" b="0">
                          <a:solidFill>
                            <a:srgbClr val="D03B3B"/>
                          </a:solidFill>
                          <a:latin typeface="Consolas"/>
                        </a:rPr>
                        <a:t>+42.8mm</a:t>
                      </a:r>
                    </a:p>
                  </a:txBody>
                  <a:tcPr anchor="ctr" marL="101600" marR="101600" marT="50800" marB="50800">
                    <a:solidFill>
                      <a:srgbClr val="FFFFFF"/>
                    </a:solidFill>
                  </a:tcPr>
                </a:tc>
                <a:tc>
                  <a:txBody>
                    <a:bodyPr wrap="square"/>
                    <a:lstStyle/>
                    <a:p>
                      <a:pPr algn="r"/>
                      <a:r>
                        <a:rPr sz="1200" b="0">
                          <a:solidFill>
                            <a:srgbClr val="D03B3B"/>
                          </a:solidFill>
                          <a:latin typeface="Consolas"/>
                        </a:rPr>
                        <a:t>+9.2mm</a:t>
                      </a:r>
                    </a:p>
                  </a:txBody>
                  <a:tcPr anchor="ctr" marL="101600" marR="101600" marT="50800" marB="50800">
                    <a:solidFill>
                      <a:srgbClr val="FFFFFF"/>
                    </a:solidFill>
                  </a:tcPr>
                </a:tc>
                <a:tc>
                  <a:txBody>
                    <a:bodyPr wrap="square"/>
                    <a:lstStyle/>
                    <a:p>
                      <a:pPr algn="r"/>
                      <a:r>
                        <a:rPr sz="1200" b="0">
                          <a:solidFill>
                            <a:srgbClr val="0CA30C"/>
                          </a:solidFill>
                          <a:latin typeface="Consolas"/>
                        </a:rPr>
                        <a:t>-33.6mm（改善）</a:t>
                      </a:r>
                    </a:p>
                  </a:txBody>
                  <a:tcPr anchor="ctr" marL="101600" marR="101600" marT="50800" marB="50800">
                    <a:solidFill>
                      <a:srgbClr val="FFFFFF"/>
                    </a:solidFill>
                  </a:tcPr>
                </a:tc>
              </a:tr>
            </a:tbl>
          </a:graphicData>
        </a:graphic>
      </p:graphicFrame>
      <p:sp>
        <p:nvSpPr>
          <p:cNvPr id="16" name="TextBox 15"/>
          <p:cNvSpPr txBox="1"/>
          <p:nvPr/>
        </p:nvSpPr>
        <p:spPr>
          <a:xfrm>
            <a:off x="502920" y="5833872"/>
            <a:ext cx="11185855" cy="320040"/>
          </a:xfrm>
          <a:prstGeom prst="rect">
            <a:avLst/>
          </a:prstGeom>
          <a:noFill/>
        </p:spPr>
        <p:txBody>
          <a:bodyPr wrap="square" lIns="0" rIns="0" tIns="0" bIns="0">
            <a:spAutoFit/>
          </a:bodyPr>
          <a:lstStyle/>
          <a:p>
            <a:pPr algn="l">
              <a:lnSpc>
                <a:spcPct val="115000"/>
              </a:lnSpc>
            </a:pPr>
            <a:r>
              <a:rPr sz="1150" b="0" i="0">
                <a:solidFill>
                  <a:srgbClr val="58666F"/>
                </a:solidFill>
                <a:latin typeface="Consolas"/>
              </a:rPr>
              <a:t>増減の符号・大きさに一貫性がない＝系統的バイアスではなく計算方式そのものの不安定性。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65760"/>
            <a:ext cx="2377440" cy="292608"/>
          </a:xfrm>
          <a:prstGeom prst="roundRect">
            <a:avLst>
              <a:gd name="adj" fmla="val 50000"/>
            </a:avLst>
          </a:prstGeom>
          <a:noFill/>
          <a:ln w="15875">
            <a:solidFill>
              <a:srgbClr val="B886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2194560" cy="228600"/>
          </a:xfrm>
          <a:prstGeom prst="rect">
            <a:avLst/>
          </a:prstGeom>
          <a:noFill/>
        </p:spPr>
        <p:txBody>
          <a:bodyPr wrap="square" lIns="0" rIns="0" tIns="0" bIns="0">
            <a:spAutoFit/>
          </a:bodyPr>
          <a:lstStyle/>
          <a:p>
            <a:pPr algn="l">
              <a:lnSpc>
                <a:spcPct val="115000"/>
              </a:lnSpc>
            </a:pPr>
            <a:r>
              <a:rPr sz="1100" b="1" i="0">
                <a:solidFill>
                  <a:srgbClr val="B8860A"/>
                </a:solidFill>
                <a:latin typeface="Consolas"/>
              </a:rPr>
              <a:t>発見 3 — 副次的要因</a:t>
            </a:r>
          </a:p>
        </p:txBody>
      </p:sp>
      <p:sp>
        <p:nvSpPr>
          <p:cNvPr id="5" name="TextBox 4"/>
          <p:cNvSpPr txBox="1"/>
          <p:nvPr/>
        </p:nvSpPr>
        <p:spPr>
          <a:xfrm>
            <a:off x="502920" y="777240"/>
            <a:ext cx="11185855" cy="548640"/>
          </a:xfrm>
          <a:prstGeom prst="rect">
            <a:avLst/>
          </a:prstGeom>
          <a:noFill/>
        </p:spPr>
        <p:txBody>
          <a:bodyPr wrap="square" lIns="0" rIns="0" tIns="0" bIns="0">
            <a:spAutoFit/>
          </a:bodyPr>
          <a:lstStyle/>
          <a:p>
            <a:pPr algn="l">
              <a:lnSpc>
                <a:spcPct val="115000"/>
              </a:lnSpc>
            </a:pPr>
            <a:r>
              <a:rPr sz="2200" b="1" i="0">
                <a:solidFill>
                  <a:srgbClr val="131A20"/>
                </a:solidFill>
                <a:latin typeface="Georgia"/>
              </a:rPr>
              <a:t>Surpass Evolve / AXS Vecta：細長い包装形状</a:t>
            </a:r>
          </a:p>
        </p:txBody>
      </p:sp>
      <p:cxnSp>
        <p:nvCxnSpPr>
          <p:cNvPr id="6" name="Connector 5"/>
          <p:cNvCxnSpPr/>
          <p:nvPr/>
        </p:nvCxnSpPr>
        <p:spPr>
          <a:xfrm>
            <a:off x="502920" y="1371600"/>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554480"/>
            <a:ext cx="11185855" cy="914400"/>
          </a:xfrm>
          <a:prstGeom prst="rect">
            <a:avLst/>
          </a:prstGeom>
          <a:noFill/>
        </p:spPr>
        <p:txBody>
          <a:bodyPr wrap="square" lIns="0" rIns="0" tIns="0" bIns="0">
            <a:spAutoFit/>
          </a:bodyPr>
          <a:lstStyle/>
          <a:p>
            <a:pPr algn="l">
              <a:lnSpc>
                <a:spcPct val="135000"/>
              </a:lnSpc>
            </a:pPr>
            <a:r>
              <a:rPr sz="1350" b="0" i="0">
                <a:solidFill>
                  <a:srgbClr val="3A464E"/>
                </a:solidFill>
                <a:latin typeface="Calibri"/>
              </a:rPr>
              <a:t>この2書籍はOCRマッチング自体は一意に決まっており、発見1には該当しない。debug_mask_shapeの</a:t>
            </a:r>
          </a:p>
          <a:p>
            <a:pPr algn="l">
              <a:lnSpc>
                <a:spcPct val="135000"/>
              </a:lnSpc>
            </a:pPr>
            <a:r>
              <a:rPr sz="1350" b="0" i="0">
                <a:solidFill>
                  <a:srgbClr val="3A464E"/>
                </a:solidFill>
                <a:latin typeface="Calibri"/>
              </a:rPr>
              <a:t>データを見ると、選択マスクが極端に細長く（例: 75.6×639.5px、アスペクト比8.5:1）、輪郭のsolidity</a:t>
            </a:r>
          </a:p>
          <a:p>
            <a:pPr algn="l">
              <a:lnSpc>
                <a:spcPct val="135000"/>
              </a:lnSpc>
            </a:pPr>
            <a:r>
              <a:rPr sz="1350" b="0" i="0">
                <a:solidFill>
                  <a:srgbClr val="3A464E"/>
                </a:solidFill>
                <a:latin typeface="Calibri"/>
              </a:rPr>
              <a:t>（凸包に対する充填率）が長方形判定の閾値をわずかに下回っていた。</a:t>
            </a:r>
          </a:p>
        </p:txBody>
      </p:sp>
      <p:sp>
        <p:nvSpPr>
          <p:cNvPr id="8" name="TextBox 7"/>
          <p:cNvSpPr txBox="1"/>
          <p:nvPr/>
        </p:nvSpPr>
        <p:spPr>
          <a:xfrm>
            <a:off x="502920" y="2743200"/>
            <a:ext cx="11185855" cy="274320"/>
          </a:xfrm>
          <a:prstGeom prst="rect">
            <a:avLst/>
          </a:prstGeom>
          <a:noFill/>
        </p:spPr>
        <p:txBody>
          <a:bodyPr wrap="square" lIns="0" rIns="0" tIns="0" bIns="0">
            <a:spAutoFit/>
          </a:bodyPr>
          <a:lstStyle/>
          <a:p>
            <a:pPr algn="l">
              <a:lnSpc>
                <a:spcPct val="115000"/>
              </a:lnSpc>
            </a:pPr>
            <a:r>
              <a:rPr sz="1200" b="1" i="0">
                <a:solidFill>
                  <a:srgbClr val="B8860A"/>
                </a:solidFill>
                <a:latin typeface="Consolas"/>
              </a:rPr>
              <a:t>FIG. 7 — Surpass Evolve のマスク形状指標</a:t>
            </a:r>
          </a:p>
        </p:txBody>
      </p:sp>
      <p:graphicFrame>
        <p:nvGraphicFramePr>
          <p:cNvPr id="9" name="Table 8"/>
          <p:cNvGraphicFramePr>
            <a:graphicFrameLocks noGrp="1"/>
          </p:cNvGraphicFramePr>
          <p:nvPr/>
        </p:nvGraphicFramePr>
        <p:xfrm>
          <a:off x="502920" y="3063240"/>
          <a:ext cx="7315200" cy="1051560"/>
        </p:xfrm>
        <a:graphic>
          <a:graphicData uri="http://schemas.openxmlformats.org/drawingml/2006/table">
            <a:tbl>
              <a:tblPr firstRow="1" bandRow="1">
                <a:tableStyleId>{5C22544A-7EE6-4342-B048-85BDC9FD1C3A}</a:tableStyleId>
              </a:tblPr>
              <a:tblGrid>
                <a:gridCol w="1097280"/>
                <a:gridCol w="2011680"/>
                <a:gridCol w="1371600"/>
                <a:gridCol w="1371600"/>
                <a:gridCol w="1463040"/>
              </a:tblGrid>
              <a:tr h="350520">
                <a:tc>
                  <a:txBody>
                    <a:bodyPr wrap="square"/>
                    <a:lstStyle/>
                    <a:p>
                      <a:pPr algn="l"/>
                      <a:r>
                        <a:rPr sz="1100" b="1">
                          <a:solidFill>
                            <a:srgbClr val="58666F"/>
                          </a:solidFill>
                          <a:latin typeface="Consolas"/>
                        </a:rPr>
                        <a:t/>
                      </a:r>
                    </a:p>
                  </a:txBody>
                  <a:tcPr anchor="ctr" marL="101600" marR="101600" marT="50800" marB="50800">
                    <a:solidFill>
                      <a:srgbClr val="EEF1F2"/>
                    </a:solidFill>
                  </a:tcPr>
                </a:tc>
                <a:tc>
                  <a:txBody>
                    <a:bodyPr wrap="square"/>
                    <a:lstStyle/>
                    <a:p>
                      <a:pPr algn="r"/>
                      <a:r>
                        <a:rPr sz="1100" b="1">
                          <a:solidFill>
                            <a:srgbClr val="58666F"/>
                          </a:solidFill>
                          <a:latin typeface="Consolas"/>
                        </a:rPr>
                        <a:t>rect_size (px)</a:t>
                      </a:r>
                    </a:p>
                  </a:txBody>
                  <a:tcPr anchor="ctr" marL="101600" marR="101600" marT="50800" marB="50800">
                    <a:solidFill>
                      <a:srgbClr val="EEF1F2"/>
                    </a:solidFill>
                  </a:tcPr>
                </a:tc>
                <a:tc>
                  <a:txBody>
                    <a:bodyPr wrap="square"/>
                    <a:lstStyle/>
                    <a:p>
                      <a:pPr algn="r"/>
                      <a:r>
                        <a:rPr sz="1100" b="1">
                          <a:solidFill>
                            <a:srgbClr val="58666F"/>
                          </a:solidFill>
                          <a:latin typeface="Consolas"/>
                        </a:rPr>
                        <a:t>solidity</a:t>
                      </a:r>
                    </a:p>
                  </a:txBody>
                  <a:tcPr anchor="ctr" marL="101600" marR="101600" marT="50800" marB="50800">
                    <a:solidFill>
                      <a:srgbClr val="EEF1F2"/>
                    </a:solidFill>
                  </a:tcPr>
                </a:tc>
                <a:tc>
                  <a:txBody>
                    <a:bodyPr wrap="square"/>
                    <a:lstStyle/>
                    <a:p>
                      <a:pPr algn="r"/>
                      <a:r>
                        <a:rPr sz="1100" b="1">
                          <a:solidFill>
                            <a:srgbClr val="58666F"/>
                          </a:solidFill>
                          <a:latin typeface="Consolas"/>
                        </a:rPr>
                        <a:t>閾値</a:t>
                      </a:r>
                    </a:p>
                  </a:txBody>
                  <a:tcPr anchor="ctr" marL="101600" marR="101600" marT="50800" marB="50800">
                    <a:solidFill>
                      <a:srgbClr val="EEF1F2"/>
                    </a:solidFill>
                  </a:tcPr>
                </a:tc>
                <a:tc>
                  <a:txBody>
                    <a:bodyPr wrap="square"/>
                    <a:lstStyle/>
                    <a:p>
                      <a:pPr algn="r"/>
                      <a:r>
                        <a:rPr sz="1100" b="1">
                          <a:solidFill>
                            <a:srgbClr val="58666F"/>
                          </a:solidFill>
                          <a:latin typeface="Consolas"/>
                        </a:rPr>
                        <a:t>width_cv</a:t>
                      </a:r>
                    </a:p>
                  </a:txBody>
                  <a:tcPr anchor="ctr" marL="101600" marR="101600" marT="50800" marB="50800">
                    <a:solidFill>
                      <a:srgbClr val="EEF1F2"/>
                    </a:solidFill>
                  </a:tcPr>
                </a:tc>
              </a:tr>
              <a:tr h="350520">
                <a:tc>
                  <a:txBody>
                    <a:bodyPr wrap="square"/>
                    <a:lstStyle/>
                    <a:p>
                      <a:pPr algn="l"/>
                      <a:r>
                        <a:rPr sz="1250" b="0">
                          <a:solidFill>
                            <a:srgbClr val="3A464E"/>
                          </a:solidFill>
                          <a:latin typeface="Consolas"/>
                        </a:rPr>
                        <a:t>#55</a:t>
                      </a:r>
                    </a:p>
                  </a:txBody>
                  <a:tcPr anchor="ctr" marL="101600" marR="101600" marT="50800" marB="50800">
                    <a:solidFill>
                      <a:srgbClr val="FFFFFF"/>
                    </a:solidFill>
                  </a:tcPr>
                </a:tc>
                <a:tc>
                  <a:txBody>
                    <a:bodyPr wrap="square"/>
                    <a:lstStyle/>
                    <a:p>
                      <a:pPr algn="r"/>
                      <a:r>
                        <a:rPr sz="1250" b="0">
                          <a:solidFill>
                            <a:srgbClr val="3A464E"/>
                          </a:solidFill>
                          <a:latin typeface="Consolas"/>
                        </a:rPr>
                        <a:t>75.6 × 639.5</a:t>
                      </a:r>
                    </a:p>
                  </a:txBody>
                  <a:tcPr anchor="ctr" marL="101600" marR="101600" marT="50800" marB="50800">
                    <a:solidFill>
                      <a:srgbClr val="FFFFFF"/>
                    </a:solidFill>
                  </a:tcPr>
                </a:tc>
                <a:tc>
                  <a:txBody>
                    <a:bodyPr wrap="square"/>
                    <a:lstStyle/>
                    <a:p>
                      <a:pPr algn="r"/>
                      <a:r>
                        <a:rPr sz="1250" b="0">
                          <a:solidFill>
                            <a:srgbClr val="3A464E"/>
                          </a:solidFill>
                          <a:latin typeface="Consolas"/>
                        </a:rPr>
                        <a:t>0.879</a:t>
                      </a:r>
                    </a:p>
                  </a:txBody>
                  <a:tcPr anchor="ctr" marL="101600" marR="101600" marT="50800" marB="50800">
                    <a:solidFill>
                      <a:srgbClr val="FFFFFF"/>
                    </a:solidFill>
                  </a:tcPr>
                </a:tc>
                <a:tc>
                  <a:txBody>
                    <a:bodyPr wrap="square"/>
                    <a:lstStyle/>
                    <a:p>
                      <a:pPr algn="r"/>
                      <a:r>
                        <a:rPr sz="1250" b="0">
                          <a:solidFill>
                            <a:srgbClr val="3A464E"/>
                          </a:solidFill>
                          <a:latin typeface="Consolas"/>
                        </a:rPr>
                        <a:t>0.920</a:t>
                      </a:r>
                    </a:p>
                  </a:txBody>
                  <a:tcPr anchor="ctr" marL="101600" marR="101600" marT="50800" marB="50800">
                    <a:solidFill>
                      <a:srgbClr val="FFFFFF"/>
                    </a:solidFill>
                  </a:tcPr>
                </a:tc>
                <a:tc>
                  <a:txBody>
                    <a:bodyPr wrap="square"/>
                    <a:lstStyle/>
                    <a:p>
                      <a:pPr algn="r"/>
                      <a:r>
                        <a:rPr sz="1250" b="0">
                          <a:solidFill>
                            <a:srgbClr val="3A464E"/>
                          </a:solidFill>
                          <a:latin typeface="Consolas"/>
                        </a:rPr>
                        <a:t>0.046</a:t>
                      </a:r>
                    </a:p>
                  </a:txBody>
                  <a:tcPr anchor="ctr" marL="101600" marR="101600" marT="50800" marB="50800">
                    <a:solidFill>
                      <a:srgbClr val="FFFFFF"/>
                    </a:solidFill>
                  </a:tcPr>
                </a:tc>
              </a:tr>
              <a:tr h="350520">
                <a:tc>
                  <a:txBody>
                    <a:bodyPr wrap="square"/>
                    <a:lstStyle/>
                    <a:p>
                      <a:pPr algn="l"/>
                      <a:r>
                        <a:rPr sz="1250" b="0">
                          <a:solidFill>
                            <a:srgbClr val="3A464E"/>
                          </a:solidFill>
                          <a:latin typeface="Consolas"/>
                        </a:rPr>
                        <a:t>#85</a:t>
                      </a:r>
                    </a:p>
                  </a:txBody>
                  <a:tcPr anchor="ctr" marL="101600" marR="101600" marT="50800" marB="50800">
                    <a:solidFill>
                      <a:srgbClr val="FFFFFF"/>
                    </a:solidFill>
                  </a:tcPr>
                </a:tc>
                <a:tc>
                  <a:txBody>
                    <a:bodyPr wrap="square"/>
                    <a:lstStyle/>
                    <a:p>
                      <a:pPr algn="r"/>
                      <a:r>
                        <a:rPr sz="1250" b="0">
                          <a:solidFill>
                            <a:srgbClr val="3A464E"/>
                          </a:solidFill>
                          <a:latin typeface="Consolas"/>
                        </a:rPr>
                        <a:t>82.0 × 627.0</a:t>
                      </a:r>
                    </a:p>
                  </a:txBody>
                  <a:tcPr anchor="ctr" marL="101600" marR="101600" marT="50800" marB="50800">
                    <a:solidFill>
                      <a:srgbClr val="FFFFFF"/>
                    </a:solidFill>
                  </a:tcPr>
                </a:tc>
                <a:tc>
                  <a:txBody>
                    <a:bodyPr wrap="square"/>
                    <a:lstStyle/>
                    <a:p>
                      <a:pPr algn="r"/>
                      <a:r>
                        <a:rPr sz="1250" b="0">
                          <a:solidFill>
                            <a:srgbClr val="3A464E"/>
                          </a:solidFill>
                          <a:latin typeface="Consolas"/>
                        </a:rPr>
                        <a:t>0.830</a:t>
                      </a:r>
                    </a:p>
                  </a:txBody>
                  <a:tcPr anchor="ctr" marL="101600" marR="101600" marT="50800" marB="50800">
                    <a:solidFill>
                      <a:srgbClr val="FFFFFF"/>
                    </a:solidFill>
                  </a:tcPr>
                </a:tc>
                <a:tc>
                  <a:txBody>
                    <a:bodyPr wrap="square"/>
                    <a:lstStyle/>
                    <a:p>
                      <a:pPr algn="r"/>
                      <a:r>
                        <a:rPr sz="1250" b="0">
                          <a:solidFill>
                            <a:srgbClr val="3A464E"/>
                          </a:solidFill>
                          <a:latin typeface="Consolas"/>
                        </a:rPr>
                        <a:t>0.920</a:t>
                      </a:r>
                    </a:p>
                  </a:txBody>
                  <a:tcPr anchor="ctr" marL="101600" marR="101600" marT="50800" marB="50800">
                    <a:solidFill>
                      <a:srgbClr val="FFFFFF"/>
                    </a:solidFill>
                  </a:tcPr>
                </a:tc>
                <a:tc>
                  <a:txBody>
                    <a:bodyPr wrap="square"/>
                    <a:lstStyle/>
                    <a:p>
                      <a:pPr algn="r"/>
                      <a:r>
                        <a:rPr sz="1250" b="0">
                          <a:solidFill>
                            <a:srgbClr val="3A464E"/>
                          </a:solidFill>
                          <a:latin typeface="Consolas"/>
                        </a:rPr>
                        <a:t>0.231</a:t>
                      </a:r>
                    </a:p>
                  </a:txBody>
                  <a:tcPr anchor="ctr" marL="101600" marR="101600" marT="50800" marB="50800">
                    <a:solidFill>
                      <a:srgbClr val="FFFFFF"/>
                    </a:solidFill>
                  </a:tcPr>
                </a:tc>
              </a:tr>
            </a:tbl>
          </a:graphicData>
        </a:graphic>
      </p:graphicFrame>
      <p:sp>
        <p:nvSpPr>
          <p:cNvPr id="10" name="TextBox 9"/>
          <p:cNvSpPr txBox="1"/>
          <p:nvPr/>
        </p:nvSpPr>
        <p:spPr>
          <a:xfrm>
            <a:off x="502920" y="4251960"/>
            <a:ext cx="11185855" cy="731520"/>
          </a:xfrm>
          <a:prstGeom prst="rect">
            <a:avLst/>
          </a:prstGeom>
          <a:noFill/>
        </p:spPr>
        <p:txBody>
          <a:bodyPr wrap="square" lIns="0" rIns="0" tIns="0" bIns="0">
            <a:spAutoFit/>
          </a:bodyPr>
          <a:lstStyle/>
          <a:p>
            <a:pPr algn="l">
              <a:lnSpc>
                <a:spcPct val="130000"/>
              </a:lnSpc>
            </a:pPr>
            <a:r>
              <a:rPr sz="1200" b="0" i="0">
                <a:solidFill>
                  <a:srgbClr val="58666F"/>
                </a:solidFill>
                <a:latin typeface="Calibri"/>
              </a:rPr>
              <a:t>パッケージ端の幅広いヘッダー／コネクタ部分がマスクに巻き込まれていると推測される。深度フィルタや</a:t>
            </a:r>
          </a:p>
          <a:p>
            <a:pPr algn="l">
              <a:lnSpc>
                <a:spcPct val="130000"/>
              </a:lnSpc>
            </a:pPr>
            <a:r>
              <a:rPr sz="1200" b="0" i="0">
                <a:solidFill>
                  <a:srgbClr val="58666F"/>
                </a:solidFill>
                <a:latin typeface="Calibri"/>
              </a:rPr>
              <a:t>列長さリファインがこれを除去しきれるかはラウンドごとにブレるため、原因分類が一定しない。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85572"/>
            <a:ext cx="88900" cy="889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347472"/>
            <a:ext cx="8229600" cy="274320"/>
          </a:xfrm>
          <a:prstGeom prst="rect">
            <a:avLst/>
          </a:prstGeom>
          <a:noFill/>
        </p:spPr>
        <p:txBody>
          <a:bodyPr wrap="square" lIns="0" rIns="0" tIns="0" bIns="0">
            <a:spAutoFit/>
          </a:bodyPr>
          <a:lstStyle/>
          <a:p>
            <a:pPr algn="l">
              <a:lnSpc>
                <a:spcPct val="115000"/>
              </a:lnSpc>
            </a:pPr>
            <a:r>
              <a:rPr sz="1100" b="1" i="0">
                <a:solidFill>
                  <a:srgbClr val="58666F"/>
                </a:solidFill>
                <a:latin typeface="Consolas"/>
              </a:rPr>
              <a:t>07  ·  書籍幅推定 誤差原因調査</a:t>
            </a:r>
          </a:p>
        </p:txBody>
      </p:sp>
      <p:sp>
        <p:nvSpPr>
          <p:cNvPr id="5" name="TextBox 4"/>
          <p:cNvSpPr txBox="1"/>
          <p:nvPr/>
        </p:nvSpPr>
        <p:spPr>
          <a:xfrm>
            <a:off x="502920" y="658368"/>
            <a:ext cx="11185855" cy="640080"/>
          </a:xfrm>
          <a:prstGeom prst="rect">
            <a:avLst/>
          </a:prstGeom>
          <a:noFill/>
        </p:spPr>
        <p:txBody>
          <a:bodyPr wrap="square" lIns="0" rIns="0" tIns="0" bIns="0">
            <a:spAutoFit/>
          </a:bodyPr>
          <a:lstStyle/>
          <a:p>
            <a:pPr algn="l">
              <a:lnSpc>
                <a:spcPct val="115000"/>
              </a:lnSpc>
            </a:pPr>
            <a:r>
              <a:rPr sz="2800" b="1" i="0">
                <a:solidFill>
                  <a:srgbClr val="131A20"/>
                </a:solidFill>
                <a:latin typeface="Georgia"/>
              </a:rPr>
              <a:t>まとめ表</a:t>
            </a:r>
          </a:p>
        </p:txBody>
      </p:sp>
      <p:sp>
        <p:nvSpPr>
          <p:cNvPr id="6" name="TextBox 5"/>
          <p:cNvSpPr txBox="1"/>
          <p:nvPr/>
        </p:nvSpPr>
        <p:spPr>
          <a:xfrm>
            <a:off x="502920" y="1298448"/>
            <a:ext cx="11185855" cy="320040"/>
          </a:xfrm>
          <a:prstGeom prst="rect">
            <a:avLst/>
          </a:prstGeom>
          <a:noFill/>
        </p:spPr>
        <p:txBody>
          <a:bodyPr wrap="square" lIns="0" rIns="0" tIns="0" bIns="0">
            <a:spAutoFit/>
          </a:bodyPr>
          <a:lstStyle/>
          <a:p>
            <a:pPr algn="l">
              <a:lnSpc>
                <a:spcPct val="115000"/>
              </a:lnSpc>
            </a:pPr>
            <a:r>
              <a:rPr sz="1300" b="0" i="0">
                <a:solidFill>
                  <a:srgbClr val="58666F"/>
                </a:solidFill>
                <a:latin typeface="Consolas"/>
              </a:rPr>
              <a:t>3つの問題書籍と、対応する根本原因の対応関係</a:t>
            </a:r>
          </a:p>
        </p:txBody>
      </p:sp>
      <p:cxnSp>
        <p:nvCxnSpPr>
          <p:cNvPr id="7" name="Connector 6"/>
          <p:cNvCxnSpPr/>
          <p:nvPr/>
        </p:nvCxnSpPr>
        <p:spPr>
          <a:xfrm>
            <a:off x="502920" y="1572768"/>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502920" y="1874520"/>
          <a:ext cx="10972800" cy="3291840"/>
        </p:xfrm>
        <a:graphic>
          <a:graphicData uri="http://schemas.openxmlformats.org/drawingml/2006/table">
            <a:tbl>
              <a:tblPr firstRow="1" bandRow="1">
                <a:tableStyleId>{5C22544A-7EE6-4342-B048-85BDC9FD1C3A}</a:tableStyleId>
              </a:tblPr>
              <a:tblGrid>
                <a:gridCol w="2926080"/>
                <a:gridCol w="1645920"/>
                <a:gridCol w="2560320"/>
                <a:gridCol w="3840480"/>
              </a:tblGrid>
              <a:tr h="548640">
                <a:tc>
                  <a:txBody>
                    <a:bodyPr wrap="square"/>
                    <a:lstStyle/>
                    <a:p>
                      <a:pPr algn="l"/>
                      <a:r>
                        <a:rPr sz="1150" b="1">
                          <a:solidFill>
                            <a:srgbClr val="58666F"/>
                          </a:solidFill>
                          <a:latin typeface="Consolas"/>
                        </a:rPr>
                        <a:t>書籍</a:t>
                      </a:r>
                    </a:p>
                  </a:txBody>
                  <a:tcPr anchor="ctr" marL="101600" marR="101600" marT="50800" marB="50800">
                    <a:solidFill>
                      <a:srgbClr val="EEF1F2"/>
                    </a:solidFill>
                  </a:tcPr>
                </a:tc>
                <a:tc>
                  <a:txBody>
                    <a:bodyPr wrap="square"/>
                    <a:lstStyle/>
                    <a:p>
                      <a:pPr algn="r"/>
                      <a:r>
                        <a:rPr sz="1150" b="1">
                          <a:solidFill>
                            <a:srgbClr val="58666F"/>
                          </a:solidFill>
                          <a:latin typeface="Consolas"/>
                        </a:rPr>
                        <a:t>平均誤差</a:t>
                      </a:r>
                    </a:p>
                  </a:txBody>
                  <a:tcPr anchor="ctr" marL="101600" marR="101600" marT="50800" marB="50800">
                    <a:solidFill>
                      <a:srgbClr val="EEF1F2"/>
                    </a:solidFill>
                  </a:tcPr>
                </a:tc>
                <a:tc>
                  <a:txBody>
                    <a:bodyPr wrap="square"/>
                    <a:lstStyle/>
                    <a:p>
                      <a:pPr algn="l"/>
                      <a:r>
                        <a:rPr sz="1150" b="1">
                          <a:solidFill>
                            <a:srgbClr val="58666F"/>
                          </a:solidFill>
                          <a:latin typeface="Consolas"/>
                        </a:rPr>
                        <a:t>根本原因</a:t>
                      </a:r>
                    </a:p>
                  </a:txBody>
                  <a:tcPr anchor="ctr" marL="101600" marR="101600" marT="50800" marB="50800">
                    <a:solidFill>
                      <a:srgbClr val="EEF1F2"/>
                    </a:solidFill>
                  </a:tcPr>
                </a:tc>
                <a:tc>
                  <a:txBody>
                    <a:bodyPr wrap="square"/>
                    <a:lstStyle/>
                    <a:p>
                      <a:pPr algn="l"/>
                      <a:r>
                        <a:rPr sz="1150" b="1">
                          <a:solidFill>
                            <a:srgbClr val="58666F"/>
                          </a:solidFill>
                          <a:latin typeface="Consolas"/>
                        </a:rPr>
                        <a:t>該当箇所</a:t>
                      </a:r>
                    </a:p>
                  </a:txBody>
                  <a:tcPr anchor="ctr" marL="101600" marR="101600" marT="50800" marB="50800">
                    <a:solidFill>
                      <a:srgbClr val="EEF1F2"/>
                    </a:solidFill>
                  </a:tcPr>
                </a:tc>
              </a:tr>
              <a:tr h="548640">
                <a:tc>
                  <a:txBody>
                    <a:bodyPr wrap="square"/>
                    <a:lstStyle/>
                    <a:p>
                      <a:pPr algn="l"/>
                      <a:r>
                        <a:rPr sz="1100" b="0">
                          <a:solidFill>
                            <a:srgbClr val="3A464E"/>
                          </a:solidFill>
                          <a:latin typeface="Consolas"/>
                        </a:rPr>
                        <a:t>stryker UPN</a:t>
                      </a:r>
                    </a:p>
                  </a:txBody>
                  <a:tcPr anchor="ctr" marL="101600" marR="101600" marT="50800" marB="50800">
                    <a:solidFill>
                      <a:srgbClr val="FFFFFF"/>
                    </a:solidFill>
                  </a:tcPr>
                </a:tc>
                <a:tc>
                  <a:txBody>
                    <a:bodyPr wrap="square"/>
                    <a:lstStyle/>
                    <a:p>
                      <a:pPr algn="r"/>
                      <a:r>
                        <a:rPr sz="1300" b="1">
                          <a:solidFill>
                            <a:srgbClr val="D03B3B"/>
                          </a:solidFill>
                          <a:latin typeface="Consolas"/>
                        </a:rPr>
                        <a:t>20.27mm</a:t>
                      </a:r>
                    </a:p>
                  </a:txBody>
                  <a:tcPr anchor="ctr" marL="101600" marR="101600" marT="50800" marB="50800">
                    <a:solidFill>
                      <a:srgbClr val="FFFFFF"/>
                    </a:solidFill>
                  </a:tcPr>
                </a:tc>
                <a:tc>
                  <a:txBody>
                    <a:bodyPr wrap="square"/>
                    <a:lstStyle/>
                    <a:p>
                      <a:pPr algn="l"/>
                      <a:r>
                        <a:rPr sz="1300" b="0">
                          <a:solidFill>
                            <a:srgbClr val="131A20"/>
                          </a:solidFill>
                          <a:latin typeface="Calibri"/>
                        </a:rPr>
                        <a:t/>
                      </a:r>
                    </a:p>
                  </a:txBody>
                  <a:tcPr anchor="ctr" marL="101600" marR="101600" marT="50800" marB="50800">
                    <a:solidFill>
                      <a:srgbClr val="FFFFFF"/>
                    </a:solidFill>
                  </a:tcPr>
                </a:tc>
                <a:tc>
                  <a:txBody>
                    <a:bodyPr wrap="square"/>
                    <a:lstStyle/>
                    <a:p>
                      <a:pPr algn="l"/>
                      <a:r>
                        <a:rPr sz="1100" b="0">
                          <a:solidFill>
                            <a:srgbClr val="3A464E"/>
                          </a:solidFill>
                          <a:latin typeface="Consolas"/>
                        </a:rPr>
                        <a:t>match_book_name() / fuzz.partial_ratio</a:t>
                      </a:r>
                    </a:p>
                  </a:txBody>
                  <a:tcPr anchor="ctr" marL="101600" marR="101600" marT="50800" marB="50800">
                    <a:solidFill>
                      <a:srgbClr val="FFFFFF"/>
                    </a:solidFill>
                  </a:tcPr>
                </a:tc>
              </a:tr>
              <a:tr h="548640">
                <a:tc>
                  <a:txBody>
                    <a:bodyPr wrap="square"/>
                    <a:lstStyle/>
                    <a:p>
                      <a:pPr algn="l"/>
                      <a:r>
                        <a:rPr sz="1100" b="0">
                          <a:solidFill>
                            <a:srgbClr val="3A464E"/>
                          </a:solidFill>
                          <a:latin typeface="Consolas"/>
                        </a:rPr>
                        <a:t>Medtronic Riptide</a:t>
                      </a:r>
                    </a:p>
                  </a:txBody>
                  <a:tcPr anchor="ctr" marL="101600" marR="101600" marT="50800" marB="50800">
                    <a:solidFill>
                      <a:srgbClr val="FFFFFF"/>
                    </a:solidFill>
                  </a:tcPr>
                </a:tc>
                <a:tc>
                  <a:txBody>
                    <a:bodyPr wrap="square"/>
                    <a:lstStyle/>
                    <a:p>
                      <a:pPr algn="r"/>
                      <a:r>
                        <a:rPr sz="1300" b="1">
                          <a:solidFill>
                            <a:srgbClr val="D03B3B"/>
                          </a:solidFill>
                          <a:latin typeface="Consolas"/>
                        </a:rPr>
                        <a:t>10.13mm</a:t>
                      </a:r>
                    </a:p>
                  </a:txBody>
                  <a:tcPr anchor="ctr" marL="101600" marR="101600" marT="50800" marB="50800">
                    <a:solidFill>
                      <a:srgbClr val="FFFFFF"/>
                    </a:solidFill>
                  </a:tcPr>
                </a:tc>
                <a:tc>
                  <a:txBody>
                    <a:bodyPr wrap="square"/>
                    <a:lstStyle/>
                    <a:p>
                      <a:pPr algn="l"/>
                      <a:r>
                        <a:rPr sz="1300" b="0">
                          <a:solidFill>
                            <a:srgbClr val="131A20"/>
                          </a:solidFill>
                          <a:latin typeface="Calibri"/>
                        </a:rPr>
                        <a:t/>
                      </a:r>
                    </a:p>
                  </a:txBody>
                  <a:tcPr anchor="ctr" marL="101600" marR="101600" marT="50800" marB="50800">
                    <a:solidFill>
                      <a:srgbClr val="FFFFFF"/>
                    </a:solidFill>
                  </a:tcPr>
                </a:tc>
                <a:tc>
                  <a:txBody>
                    <a:bodyPr wrap="square"/>
                    <a:lstStyle/>
                    <a:p>
                      <a:pPr algn="l"/>
                      <a:r>
                        <a:rPr sz="1100" b="0">
                          <a:solidFill>
                            <a:srgbClr val="3A464E"/>
                          </a:solidFill>
                          <a:latin typeface="Consolas"/>
                        </a:rPr>
                        <a:t>estimate_book_width_from_filtered_mask_axis()</a:t>
                      </a:r>
                    </a:p>
                  </a:txBody>
                  <a:tcPr anchor="ctr" marL="101600" marR="101600" marT="50800" marB="50800">
                    <a:solidFill>
                      <a:srgbClr val="FFFFFF"/>
                    </a:solidFill>
                  </a:tcPr>
                </a:tc>
              </a:tr>
              <a:tr h="548640">
                <a:tc>
                  <a:txBody>
                    <a:bodyPr wrap="square"/>
                    <a:lstStyle/>
                    <a:p>
                      <a:pPr algn="l"/>
                      <a:r>
                        <a:rPr sz="1100" b="0">
                          <a:solidFill>
                            <a:srgbClr val="3A464E"/>
                          </a:solidFill>
                          <a:latin typeface="Consolas"/>
                        </a:rPr>
                        <a:t>Eccelsior® XT-27</a:t>
                      </a:r>
                    </a:p>
                  </a:txBody>
                  <a:tcPr anchor="ctr" marL="101600" marR="101600" marT="50800" marB="50800">
                    <a:solidFill>
                      <a:srgbClr val="FFFFFF"/>
                    </a:solidFill>
                  </a:tcPr>
                </a:tc>
                <a:tc>
                  <a:txBody>
                    <a:bodyPr wrap="square"/>
                    <a:lstStyle/>
                    <a:p>
                      <a:pPr algn="r"/>
                      <a:r>
                        <a:rPr sz="1300" b="1">
                          <a:solidFill>
                            <a:srgbClr val="D03B3B"/>
                          </a:solidFill>
                          <a:latin typeface="Consolas"/>
                        </a:rPr>
                        <a:t>10.02mm</a:t>
                      </a:r>
                    </a:p>
                  </a:txBody>
                  <a:tcPr anchor="ctr" marL="101600" marR="101600" marT="50800" marB="50800">
                    <a:solidFill>
                      <a:srgbClr val="FFFFFF"/>
                    </a:solidFill>
                  </a:tcPr>
                </a:tc>
                <a:tc>
                  <a:txBody>
                    <a:bodyPr wrap="square"/>
                    <a:lstStyle/>
                    <a:p>
                      <a:pPr algn="l"/>
                      <a:r>
                        <a:rPr sz="1300" b="0">
                          <a:solidFill>
                            <a:srgbClr val="131A20"/>
                          </a:solidFill>
                          <a:latin typeface="Calibri"/>
                        </a:rPr>
                        <a:t/>
                      </a:r>
                    </a:p>
                  </a:txBody>
                  <a:tcPr anchor="ctr" marL="101600" marR="101600" marT="50800" marB="50800">
                    <a:solidFill>
                      <a:srgbClr val="FFFFFF"/>
                    </a:solidFill>
                  </a:tcPr>
                </a:tc>
                <a:tc>
                  <a:txBody>
                    <a:bodyPr wrap="square"/>
                    <a:lstStyle/>
                    <a:p>
                      <a:pPr algn="l"/>
                      <a:r>
                        <a:rPr sz="1100" b="0">
                          <a:solidFill>
                            <a:srgbClr val="3A464E"/>
                          </a:solidFill>
                          <a:latin typeface="Consolas"/>
                        </a:rPr>
                        <a:t>estimate_book_width_from_filtered_mask_axis()</a:t>
                      </a:r>
                    </a:p>
                  </a:txBody>
                  <a:tcPr anchor="ctr" marL="101600" marR="101600" marT="50800" marB="50800">
                    <a:solidFill>
                      <a:srgbClr val="FFFFFF"/>
                    </a:solidFill>
                  </a:tcPr>
                </a:tc>
              </a:tr>
              <a:tr h="548640">
                <a:tc>
                  <a:txBody>
                    <a:bodyPr wrap="square"/>
                    <a:lstStyle/>
                    <a:p>
                      <a:pPr algn="l"/>
                      <a:r>
                        <a:rPr sz="1100" b="0">
                          <a:solidFill>
                            <a:srgbClr val="3A464E"/>
                          </a:solidFill>
                          <a:latin typeface="Consolas"/>
                        </a:rPr>
                        <a:t>Surpass Evolve</a:t>
                      </a:r>
                    </a:p>
                  </a:txBody>
                  <a:tcPr anchor="ctr" marL="101600" marR="101600" marT="50800" marB="50800">
                    <a:solidFill>
                      <a:srgbClr val="FFFFFF"/>
                    </a:solidFill>
                  </a:tcPr>
                </a:tc>
                <a:tc>
                  <a:txBody>
                    <a:bodyPr wrap="square"/>
                    <a:lstStyle/>
                    <a:p>
                      <a:pPr algn="r"/>
                      <a:r>
                        <a:rPr sz="1300" b="1">
                          <a:solidFill>
                            <a:srgbClr val="B8860A"/>
                          </a:solidFill>
                          <a:latin typeface="Consolas"/>
                        </a:rPr>
                        <a:t>2.91mm</a:t>
                      </a:r>
                    </a:p>
                  </a:txBody>
                  <a:tcPr anchor="ctr" marL="101600" marR="101600" marT="50800" marB="50800">
                    <a:solidFill>
                      <a:srgbClr val="FFFFFF"/>
                    </a:solidFill>
                  </a:tcPr>
                </a:tc>
                <a:tc>
                  <a:txBody>
                    <a:bodyPr wrap="square"/>
                    <a:lstStyle/>
                    <a:p>
                      <a:pPr algn="l"/>
                      <a:r>
                        <a:rPr sz="1300" b="0">
                          <a:solidFill>
                            <a:srgbClr val="131A20"/>
                          </a:solidFill>
                          <a:latin typeface="Calibri"/>
                        </a:rPr>
                        <a:t/>
                      </a:r>
                    </a:p>
                  </a:txBody>
                  <a:tcPr anchor="ctr" marL="101600" marR="101600" marT="50800" marB="50800">
                    <a:solidFill>
                      <a:srgbClr val="FFFFFF"/>
                    </a:solidFill>
                  </a:tcPr>
                </a:tc>
                <a:tc>
                  <a:txBody>
                    <a:bodyPr wrap="square"/>
                    <a:lstStyle/>
                    <a:p>
                      <a:pPr algn="l"/>
                      <a:r>
                        <a:rPr sz="1100" b="0">
                          <a:solidFill>
                            <a:srgbClr val="3A464E"/>
                          </a:solidFill>
                          <a:latin typeface="Consolas"/>
                        </a:rPr>
                        <a:t>analyze_mask_rectangularity() / solidity</a:t>
                      </a:r>
                    </a:p>
                  </a:txBody>
                  <a:tcPr anchor="ctr" marL="101600" marR="101600" marT="50800" marB="50800">
                    <a:solidFill>
                      <a:srgbClr val="FFFFFF"/>
                    </a:solidFill>
                  </a:tcPr>
                </a:tc>
              </a:tr>
              <a:tr h="548640">
                <a:tc>
                  <a:txBody>
                    <a:bodyPr wrap="square"/>
                    <a:lstStyle/>
                    <a:p>
                      <a:pPr algn="l"/>
                      <a:r>
                        <a:rPr sz="1100" b="0">
                          <a:solidFill>
                            <a:srgbClr val="3A464E"/>
                          </a:solidFill>
                          <a:latin typeface="Consolas"/>
                        </a:rPr>
                        <a:t>fail 全15件</a:t>
                      </a:r>
                    </a:p>
                  </a:txBody>
                  <a:tcPr anchor="ctr" marL="101600" marR="101600" marT="50800" marB="50800">
                    <a:solidFill>
                      <a:srgbClr val="FFFFFF"/>
                    </a:solidFill>
                  </a:tcPr>
                </a:tc>
                <a:tc>
                  <a:txBody>
                    <a:bodyPr wrap="square"/>
                    <a:lstStyle/>
                    <a:p>
                      <a:pPr algn="r"/>
                      <a:r>
                        <a:rPr sz="1300" b="1">
                          <a:solidFill>
                            <a:srgbClr val="B8860A"/>
                          </a:solidFill>
                          <a:latin typeface="Consolas"/>
                        </a:rPr>
                        <a:t>—</a:t>
                      </a:r>
                    </a:p>
                  </a:txBody>
                  <a:tcPr anchor="ctr" marL="101600" marR="101600" marT="50800" marB="50800">
                    <a:solidFill>
                      <a:srgbClr val="FFFFFF"/>
                    </a:solidFill>
                  </a:tcPr>
                </a:tc>
                <a:tc>
                  <a:txBody>
                    <a:bodyPr wrap="square"/>
                    <a:lstStyle/>
                    <a:p>
                      <a:pPr algn="l"/>
                      <a:r>
                        <a:rPr sz="1300" b="0">
                          <a:solidFill>
                            <a:srgbClr val="131A20"/>
                          </a:solidFill>
                          <a:latin typeface="Calibri"/>
                        </a:rPr>
                        <a:t/>
                      </a:r>
                    </a:p>
                  </a:txBody>
                  <a:tcPr anchor="ctr" marL="101600" marR="101600" marT="50800" marB="50800">
                    <a:solidFill>
                      <a:srgbClr val="FFFFFF"/>
                    </a:solidFill>
                  </a:tcPr>
                </a:tc>
                <a:tc>
                  <a:txBody>
                    <a:bodyPr wrap="square"/>
                    <a:lstStyle/>
                    <a:p>
                      <a:pPr algn="l"/>
                      <a:r>
                        <a:rPr sz="1100" b="0">
                          <a:solidFill>
                            <a:srgbClr val="3A464E"/>
                          </a:solidFill>
                          <a:latin typeface="Consolas"/>
                        </a:rPr>
                        <a:t>match_book_name()（同一バグの裏返し）</a:t>
                      </a:r>
                    </a:p>
                  </a:txBody>
                  <a:tcPr anchor="ctr" marL="101600" marR="101600" marT="50800" marB="50800">
                    <a:solidFill>
                      <a:srgbClr val="FFFFFF"/>
                    </a:solidFill>
                  </a:tcPr>
                </a:tc>
              </a:tr>
            </a:tbl>
          </a:graphicData>
        </a:graphic>
      </p:graphicFrame>
      <p:sp>
        <p:nvSpPr>
          <p:cNvPr id="9" name="Rounded Rectangle 8"/>
          <p:cNvSpPr/>
          <p:nvPr/>
        </p:nvSpPr>
        <p:spPr>
          <a:xfrm>
            <a:off x="5212080" y="2532888"/>
            <a:ext cx="2286000" cy="310896"/>
          </a:xfrm>
          <a:prstGeom prst="roundRect">
            <a:avLst>
              <a:gd name="adj" fmla="val 50000"/>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tIns="0" bIns="0"/>
          <a:lstStyle/>
          <a:p>
            <a:pPr algn="ctr"/>
            <a:r>
              <a:rPr sz="1100" b="1">
                <a:solidFill>
                  <a:srgbClr val="FFFFFF"/>
                </a:solidFill>
                <a:latin typeface="Consolas"/>
              </a:rPr>
              <a:t>入口 — マスク選択</a:t>
            </a:r>
          </a:p>
        </p:txBody>
      </p:sp>
      <p:sp>
        <p:nvSpPr>
          <p:cNvPr id="10" name="Rounded Rectangle 9"/>
          <p:cNvSpPr/>
          <p:nvPr/>
        </p:nvSpPr>
        <p:spPr>
          <a:xfrm>
            <a:off x="5212080" y="3081528"/>
            <a:ext cx="2286000" cy="310896"/>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tIns="0" bIns="0"/>
          <a:lstStyle/>
          <a:p>
            <a:pPr algn="ctr"/>
            <a:r>
              <a:rPr sz="1100" b="1">
                <a:solidFill>
                  <a:srgbClr val="FFFFFF"/>
                </a:solidFill>
                <a:latin typeface="Consolas"/>
              </a:rPr>
              <a:t>出口 — 最終計算</a:t>
            </a:r>
          </a:p>
        </p:txBody>
      </p:sp>
      <p:sp>
        <p:nvSpPr>
          <p:cNvPr id="11" name="Rounded Rectangle 10"/>
          <p:cNvSpPr/>
          <p:nvPr/>
        </p:nvSpPr>
        <p:spPr>
          <a:xfrm>
            <a:off x="5212080" y="3630168"/>
            <a:ext cx="2286000" cy="310896"/>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tIns="0" bIns="0"/>
          <a:lstStyle/>
          <a:p>
            <a:pPr algn="ctr"/>
            <a:r>
              <a:rPr sz="1100" b="1">
                <a:solidFill>
                  <a:srgbClr val="FFFFFF"/>
                </a:solidFill>
                <a:latin typeface="Consolas"/>
              </a:rPr>
              <a:t>出口 — 最終計算</a:t>
            </a:r>
          </a:p>
        </p:txBody>
      </p:sp>
      <p:sp>
        <p:nvSpPr>
          <p:cNvPr id="12" name="Rounded Rectangle 11"/>
          <p:cNvSpPr/>
          <p:nvPr/>
        </p:nvSpPr>
        <p:spPr>
          <a:xfrm>
            <a:off x="5212080" y="4178808"/>
            <a:ext cx="2286000" cy="310896"/>
          </a:xfrm>
          <a:prstGeom prst="roundRect">
            <a:avLst>
              <a:gd name="adj" fmla="val 5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tIns="0" bIns="0"/>
          <a:lstStyle/>
          <a:p>
            <a:pPr algn="ctr"/>
            <a:r>
              <a:rPr sz="1100" b="1">
                <a:solidFill>
                  <a:srgbClr val="FFFFFF"/>
                </a:solidFill>
                <a:latin typeface="Consolas"/>
              </a:rPr>
              <a:t>副次的 — 包装形状</a:t>
            </a:r>
          </a:p>
        </p:txBody>
      </p:sp>
      <p:sp>
        <p:nvSpPr>
          <p:cNvPr id="13" name="Rounded Rectangle 12"/>
          <p:cNvSpPr/>
          <p:nvPr/>
        </p:nvSpPr>
        <p:spPr>
          <a:xfrm>
            <a:off x="5212080" y="4727448"/>
            <a:ext cx="2286000" cy="310896"/>
          </a:xfrm>
          <a:prstGeom prst="roundRect">
            <a:avLst>
              <a:gd name="adj" fmla="val 50000"/>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tIns="0" bIns="0"/>
          <a:lstStyle/>
          <a:p>
            <a:pPr algn="ctr"/>
            <a:r>
              <a:rPr sz="1100" b="1">
                <a:solidFill>
                  <a:srgbClr val="FFFFFF"/>
                </a:solidFill>
                <a:latin typeface="Consolas"/>
              </a:rPr>
              <a:t>入口 — マスク選択</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85572"/>
            <a:ext cx="88900" cy="889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347472"/>
            <a:ext cx="8229600" cy="274320"/>
          </a:xfrm>
          <a:prstGeom prst="rect">
            <a:avLst/>
          </a:prstGeom>
          <a:noFill/>
        </p:spPr>
        <p:txBody>
          <a:bodyPr wrap="square" lIns="0" rIns="0" tIns="0" bIns="0">
            <a:spAutoFit/>
          </a:bodyPr>
          <a:lstStyle/>
          <a:p>
            <a:pPr algn="l">
              <a:lnSpc>
                <a:spcPct val="115000"/>
              </a:lnSpc>
            </a:pPr>
            <a:r>
              <a:rPr sz="1100" b="1" i="0">
                <a:solidFill>
                  <a:srgbClr val="58666F"/>
                </a:solidFill>
                <a:latin typeface="Consolas"/>
              </a:rPr>
              <a:t>08  ·  書籍幅推定 誤差原因調査</a:t>
            </a:r>
          </a:p>
        </p:txBody>
      </p:sp>
      <p:sp>
        <p:nvSpPr>
          <p:cNvPr id="5" name="TextBox 4"/>
          <p:cNvSpPr txBox="1"/>
          <p:nvPr/>
        </p:nvSpPr>
        <p:spPr>
          <a:xfrm>
            <a:off x="502920" y="658368"/>
            <a:ext cx="11185855" cy="640080"/>
          </a:xfrm>
          <a:prstGeom prst="rect">
            <a:avLst/>
          </a:prstGeom>
          <a:noFill/>
        </p:spPr>
        <p:txBody>
          <a:bodyPr wrap="square" lIns="0" rIns="0" tIns="0" bIns="0">
            <a:spAutoFit/>
          </a:bodyPr>
          <a:lstStyle/>
          <a:p>
            <a:pPr algn="l">
              <a:lnSpc>
                <a:spcPct val="115000"/>
              </a:lnSpc>
            </a:pPr>
            <a:r>
              <a:rPr sz="2800" b="1" i="0">
                <a:solidFill>
                  <a:srgbClr val="131A20"/>
                </a:solidFill>
                <a:latin typeface="Georgia"/>
              </a:rPr>
              <a:t>現在地と次の一手</a:t>
            </a:r>
          </a:p>
        </p:txBody>
      </p:sp>
      <p:cxnSp>
        <p:nvCxnSpPr>
          <p:cNvPr id="6" name="Connector 5"/>
          <p:cNvCxnSpPr/>
          <p:nvPr/>
        </p:nvCxnSpPr>
        <p:spPr>
          <a:xfrm>
            <a:off x="502920" y="1298448"/>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2920" y="1645920"/>
            <a:ext cx="11185855" cy="1051560"/>
          </a:xfrm>
          <a:prstGeom prst="roundRect">
            <a:avLst>
              <a:gd name="adj" fmla="val 8000"/>
            </a:avLst>
          </a:prstGeom>
          <a:solidFill>
            <a:srgbClr val="FFFFFF"/>
          </a:solidFill>
          <a:ln w="12700">
            <a:solidFill>
              <a:srgbClr val="D7DE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74520"/>
            <a:ext cx="548640" cy="310896"/>
          </a:xfrm>
          <a:prstGeom prst="roundRect">
            <a:avLst>
              <a:gd name="adj" fmla="val 50000"/>
            </a:avLst>
          </a:prstGeom>
          <a:noFill/>
          <a:ln w="15875">
            <a:solidFill>
              <a:srgbClr val="0CA30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CA30C"/>
                </a:solidFill>
                <a:latin typeface="Consolas"/>
              </a:rPr>
              <a:t>済</a:t>
            </a:r>
          </a:p>
        </p:txBody>
      </p:sp>
      <p:sp>
        <p:nvSpPr>
          <p:cNvPr id="9" name="TextBox 8"/>
          <p:cNvSpPr txBox="1"/>
          <p:nvPr/>
        </p:nvSpPr>
        <p:spPr>
          <a:xfrm>
            <a:off x="1508760" y="1810512"/>
            <a:ext cx="9905695" cy="365760"/>
          </a:xfrm>
          <a:prstGeom prst="rect">
            <a:avLst/>
          </a:prstGeom>
          <a:noFill/>
        </p:spPr>
        <p:txBody>
          <a:bodyPr wrap="square" lIns="0" rIns="0" tIns="0" bIns="0">
            <a:spAutoFit/>
          </a:bodyPr>
          <a:lstStyle/>
          <a:p>
            <a:pPr algn="l">
              <a:lnSpc>
                <a:spcPct val="115000"/>
              </a:lnSpc>
            </a:pPr>
            <a:r>
              <a:rPr sz="1450" b="1" i="0">
                <a:solidFill>
                  <a:srgbClr val="131A20"/>
                </a:solidFill>
                <a:latin typeface="Calibri"/>
              </a:rPr>
              <a:t>100ケース評価・工程別の誤差トレース手法を確立</a:t>
            </a:r>
          </a:p>
        </p:txBody>
      </p:sp>
      <p:sp>
        <p:nvSpPr>
          <p:cNvPr id="10" name="TextBox 9"/>
          <p:cNvSpPr txBox="1"/>
          <p:nvPr/>
        </p:nvSpPr>
        <p:spPr>
          <a:xfrm>
            <a:off x="1508760" y="2176272"/>
            <a:ext cx="9905695" cy="457200"/>
          </a:xfrm>
          <a:prstGeom prst="rect">
            <a:avLst/>
          </a:prstGeom>
          <a:noFill/>
        </p:spPr>
        <p:txBody>
          <a:bodyPr wrap="square" lIns="0" rIns="0" tIns="0" bIns="0">
            <a:spAutoFit/>
          </a:bodyPr>
          <a:lstStyle/>
          <a:p>
            <a:pPr algn="l">
              <a:lnSpc>
                <a:spcPct val="125000"/>
              </a:lnSpc>
            </a:pPr>
            <a:r>
              <a:rPr sz="1150" b="0" i="0">
                <a:solidFill>
                  <a:srgbClr val="58666F"/>
                </a:solidFill>
                <a:latin typeface="Consolas"/>
              </a:rPr>
              <a:t>stage_width_trace.py / raw_mask_width_check.py</a:t>
            </a:r>
          </a:p>
        </p:txBody>
      </p:sp>
      <p:sp>
        <p:nvSpPr>
          <p:cNvPr id="11" name="Rounded Rectangle 10"/>
          <p:cNvSpPr/>
          <p:nvPr/>
        </p:nvSpPr>
        <p:spPr>
          <a:xfrm>
            <a:off x="502920" y="2880360"/>
            <a:ext cx="11185855" cy="1051560"/>
          </a:xfrm>
          <a:prstGeom prst="roundRect">
            <a:avLst>
              <a:gd name="adj" fmla="val 8000"/>
            </a:avLst>
          </a:prstGeom>
          <a:solidFill>
            <a:srgbClr val="FFFFFF"/>
          </a:solidFill>
          <a:ln w="12700">
            <a:solidFill>
              <a:srgbClr val="D7DE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3108960"/>
            <a:ext cx="548640" cy="310896"/>
          </a:xfrm>
          <a:prstGeom prst="roundRect">
            <a:avLst>
              <a:gd name="adj" fmla="val 50000"/>
            </a:avLst>
          </a:prstGeom>
          <a:noFill/>
          <a:ln w="15875">
            <a:solidFill>
              <a:srgbClr val="0CA30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CA30C"/>
                </a:solidFill>
                <a:latin typeface="Consolas"/>
              </a:rPr>
              <a:t>済</a:t>
            </a:r>
          </a:p>
        </p:txBody>
      </p:sp>
      <p:sp>
        <p:nvSpPr>
          <p:cNvPr id="13" name="TextBox 12"/>
          <p:cNvSpPr txBox="1"/>
          <p:nvPr/>
        </p:nvSpPr>
        <p:spPr>
          <a:xfrm>
            <a:off x="1508760" y="3044952"/>
            <a:ext cx="9905695" cy="365760"/>
          </a:xfrm>
          <a:prstGeom prst="rect">
            <a:avLst/>
          </a:prstGeom>
          <a:noFill/>
        </p:spPr>
        <p:txBody>
          <a:bodyPr wrap="square" lIns="0" rIns="0" tIns="0" bIns="0">
            <a:spAutoFit/>
          </a:bodyPr>
          <a:lstStyle/>
          <a:p>
            <a:pPr algn="l">
              <a:lnSpc>
                <a:spcPct val="115000"/>
              </a:lnSpc>
            </a:pPr>
            <a:r>
              <a:rPr sz="1450" b="1" i="0">
                <a:solidFill>
                  <a:srgbClr val="131A20"/>
                </a:solidFill>
                <a:latin typeface="Calibri"/>
              </a:rPr>
              <a:t>3書籍＋fail 15件の根本原因をコードレベルで特定</a:t>
            </a:r>
          </a:p>
        </p:txBody>
      </p:sp>
      <p:sp>
        <p:nvSpPr>
          <p:cNvPr id="14" name="TextBox 13"/>
          <p:cNvSpPr txBox="1"/>
          <p:nvPr/>
        </p:nvSpPr>
        <p:spPr>
          <a:xfrm>
            <a:off x="1508760" y="3410712"/>
            <a:ext cx="9905695" cy="457200"/>
          </a:xfrm>
          <a:prstGeom prst="rect">
            <a:avLst/>
          </a:prstGeom>
          <a:noFill/>
        </p:spPr>
        <p:txBody>
          <a:bodyPr wrap="square" lIns="0" rIns="0" tIns="0" bIns="0">
            <a:spAutoFit/>
          </a:bodyPr>
          <a:lstStyle/>
          <a:p>
            <a:pPr algn="l">
              <a:lnSpc>
                <a:spcPct val="125000"/>
              </a:lnSpc>
            </a:pPr>
            <a:r>
              <a:rPr sz="1150" b="0" i="0">
                <a:solidFill>
                  <a:srgbClr val="58666F"/>
                </a:solidFill>
                <a:latin typeface="Consolas"/>
              </a:rPr>
              <a:t>本レポート</a:t>
            </a:r>
          </a:p>
        </p:txBody>
      </p:sp>
      <p:sp>
        <p:nvSpPr>
          <p:cNvPr id="15" name="Rounded Rectangle 14"/>
          <p:cNvSpPr/>
          <p:nvPr/>
        </p:nvSpPr>
        <p:spPr>
          <a:xfrm>
            <a:off x="502920" y="4114800"/>
            <a:ext cx="11185855" cy="1051560"/>
          </a:xfrm>
          <a:prstGeom prst="roundRect">
            <a:avLst>
              <a:gd name="adj" fmla="val 8000"/>
            </a:avLst>
          </a:prstGeom>
          <a:solidFill>
            <a:srgbClr val="FFFFFF"/>
          </a:solidFill>
          <a:ln w="12700">
            <a:solidFill>
              <a:srgbClr val="D7DE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4343400"/>
            <a:ext cx="548640" cy="310896"/>
          </a:xfrm>
          <a:prstGeom prst="roundRect">
            <a:avLst>
              <a:gd name="adj" fmla="val 50000"/>
            </a:avLst>
          </a:prstGeom>
          <a:no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A78D6"/>
                </a:solidFill>
                <a:latin typeface="Consolas"/>
              </a:rPr>
              <a:t>未</a:t>
            </a:r>
          </a:p>
        </p:txBody>
      </p:sp>
      <p:sp>
        <p:nvSpPr>
          <p:cNvPr id="17" name="TextBox 16"/>
          <p:cNvSpPr txBox="1"/>
          <p:nvPr/>
        </p:nvSpPr>
        <p:spPr>
          <a:xfrm>
            <a:off x="1508760" y="4279392"/>
            <a:ext cx="9905695" cy="365760"/>
          </a:xfrm>
          <a:prstGeom prst="rect">
            <a:avLst/>
          </a:prstGeom>
          <a:noFill/>
        </p:spPr>
        <p:txBody>
          <a:bodyPr wrap="square" lIns="0" rIns="0" tIns="0" bIns="0">
            <a:spAutoFit/>
          </a:bodyPr>
          <a:lstStyle/>
          <a:p>
            <a:pPr algn="l">
              <a:lnSpc>
                <a:spcPct val="115000"/>
              </a:lnSpc>
            </a:pPr>
            <a:r>
              <a:rPr sz="1450" b="1" i="0">
                <a:solidFill>
                  <a:srgbClr val="131A20"/>
                </a:solidFill>
                <a:latin typeface="Calibri"/>
              </a:rPr>
              <a:t>修正は未着手</a:t>
            </a:r>
          </a:p>
        </p:txBody>
      </p:sp>
      <p:sp>
        <p:nvSpPr>
          <p:cNvPr id="18" name="TextBox 17"/>
          <p:cNvSpPr txBox="1"/>
          <p:nvPr/>
        </p:nvSpPr>
        <p:spPr>
          <a:xfrm>
            <a:off x="1508760" y="4645152"/>
            <a:ext cx="9905695" cy="457200"/>
          </a:xfrm>
          <a:prstGeom prst="rect">
            <a:avLst/>
          </a:prstGeom>
          <a:noFill/>
        </p:spPr>
        <p:txBody>
          <a:bodyPr wrap="square" lIns="0" rIns="0" tIns="0" bIns="0">
            <a:spAutoFit/>
          </a:bodyPr>
          <a:lstStyle/>
          <a:p>
            <a:pPr algn="l">
              <a:lnSpc>
                <a:spcPct val="125000"/>
              </a:lnSpc>
            </a:pPr>
            <a:r>
              <a:rPr sz="1150" b="0" i="0">
                <a:solidFill>
                  <a:srgbClr val="58666F"/>
                </a:solidFill>
                <a:latin typeface="Consolas"/>
              </a:rPr>
              <a:t>match_book_nameのスコアリング改修（マスクサイズ・被覆率を加味）と、</a:t>
            </a:r>
          </a:p>
          <a:p>
            <a:pPr algn="l">
              <a:lnSpc>
                <a:spcPct val="125000"/>
              </a:lnSpc>
            </a:pPr>
            <a:r>
              <a:rPr sz="1150" b="0" i="0">
                <a:solidFill>
                  <a:srgbClr val="58666F"/>
                </a:solidFill>
                <a:latin typeface="Consolas"/>
              </a:rPr>
              <a:t>estimate_book_width_from_filtered_mask_axisのスライス中央値方式への置き換えが最有力候補</a:t>
            </a:r>
          </a:p>
        </p:txBody>
      </p:sp>
      <p:cxnSp>
        <p:nvCxnSpPr>
          <p:cNvPr id="19" name="Connector 18"/>
          <p:cNvCxnSpPr/>
          <p:nvPr/>
        </p:nvCxnSpPr>
        <p:spPr>
          <a:xfrm>
            <a:off x="502920" y="6400800"/>
            <a:ext cx="11185855" cy="0"/>
          </a:xfrm>
          <a:prstGeom prst="line">
            <a:avLst/>
          </a:prstGeom>
          <a:ln w="12700">
            <a:solidFill>
              <a:srgbClr val="D7DEE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2920" y="6473952"/>
            <a:ext cx="5486400" cy="274320"/>
          </a:xfrm>
          <a:prstGeom prst="rect">
            <a:avLst/>
          </a:prstGeom>
          <a:noFill/>
        </p:spPr>
        <p:txBody>
          <a:bodyPr wrap="square" lIns="0" rIns="0" tIns="0" bIns="0">
            <a:spAutoFit/>
          </a:bodyPr>
          <a:lstStyle/>
          <a:p>
            <a:pPr algn="l">
              <a:lnSpc>
                <a:spcPct val="115000"/>
              </a:lnSpc>
            </a:pPr>
            <a:r>
              <a:rPr sz="1000" b="0" i="0">
                <a:solidFill>
                  <a:srgbClr val="58666F"/>
                </a:solidFill>
                <a:latin typeface="Consolas"/>
              </a:rPr>
              <a:t>captures/100test_offline/20260708_203730</a:t>
            </a:r>
          </a:p>
        </p:txBody>
      </p:sp>
      <p:sp>
        <p:nvSpPr>
          <p:cNvPr id="21" name="TextBox 20"/>
          <p:cNvSpPr txBox="1"/>
          <p:nvPr/>
        </p:nvSpPr>
        <p:spPr>
          <a:xfrm>
            <a:off x="6202375" y="6473952"/>
            <a:ext cx="5486400" cy="274320"/>
          </a:xfrm>
          <a:prstGeom prst="rect">
            <a:avLst/>
          </a:prstGeom>
          <a:noFill/>
        </p:spPr>
        <p:txBody>
          <a:bodyPr wrap="square" lIns="0" rIns="0" tIns="0" bIns="0">
            <a:spAutoFit/>
          </a:bodyPr>
          <a:lstStyle/>
          <a:p>
            <a:pPr algn="r">
              <a:lnSpc>
                <a:spcPct val="115000"/>
              </a:lnSpc>
            </a:pPr>
            <a:r>
              <a:rPr sz="1000" b="0" i="0">
                <a:solidFill>
                  <a:srgbClr val="58666F"/>
                </a:solidFill>
                <a:latin typeface="Consolas"/>
              </a:rPr>
              <a:t>analyze_width_error.py · stage_width_trace.py · raw_mask_width_check.py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