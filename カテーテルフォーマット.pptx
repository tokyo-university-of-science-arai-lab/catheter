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9" r:id="rId2"/>
  </p:sldMasterIdLst>
  <p:notesMasterIdLst>
    <p:notesMasterId r:id="rId11"/>
  </p:notesMasterIdLst>
  <p:handoutMasterIdLst>
    <p:handoutMasterId r:id="rId12"/>
  </p:handoutMasterIdLst>
  <p:sldIdLst>
    <p:sldId id="378" r:id="rId3"/>
    <p:sldId id="380" r:id="rId4"/>
    <p:sldId id="381" r:id="rId5"/>
    <p:sldId id="387" r:id="rId6"/>
    <p:sldId id="386" r:id="rId7"/>
    <p:sldId id="382" r:id="rId8"/>
    <p:sldId id="384" r:id="rId9"/>
    <p:sldId id="385" r:id="rId10"/>
  </p:sldIdLst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FFFFFF"/>
    <a:srgbClr val="EAEEF2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704"/>
  </p:normalViewPr>
  <p:slideViewPr>
    <p:cSldViewPr snapToGrid="0">
      <p:cViewPr varScale="1">
        <p:scale>
          <a:sx n="56" d="100"/>
          <a:sy n="56" d="100"/>
        </p:scale>
        <p:origin x="86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A3AA7"/>
              </a:solidFill>
            </c:spPr>
            <c:extLst>
              <c:ext xmlns:c16="http://schemas.microsoft.com/office/drawing/2014/chart" uri="{C3380CC4-5D6E-409C-BE32-E72D297353CC}">
                <c16:uniqueId val="{00000001-6406-4FD7-A83C-B195128ABC1E}"/>
              </c:ext>
            </c:extLst>
          </c:dPt>
          <c:dPt>
            <c:idx val="1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3-6406-4FD7-A83C-B195128ABC1E}"/>
              </c:ext>
            </c:extLst>
          </c:dPt>
          <c:dPt>
            <c:idx val="2"/>
            <c:invertIfNegative val="1"/>
            <c:bubble3D val="0"/>
            <c:spPr>
              <a:solidFill>
                <a:srgbClr val="1BAF7A"/>
              </a:solidFill>
            </c:spPr>
            <c:extLst>
              <c:ext xmlns:c16="http://schemas.microsoft.com/office/drawing/2014/chart" uri="{C3380CC4-5D6E-409C-BE32-E72D297353CC}">
                <c16:uniqueId val="{00000005-6406-4FD7-A83C-B195128ABC1E}"/>
              </c:ext>
            </c:extLst>
          </c:dPt>
          <c:dLbls>
            <c:numFmt formatCode="0&quot;件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31A20"/>
                    </a:solidFill>
                    <a:latin typeface="Consola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② マスク選択（入口）が原因</c:v>
                </c:pt>
                <c:pt idx="1">
                  <c:v>① 最終計算（出口）が原因</c:v>
                </c:pt>
                <c:pt idx="2">
                  <c:v>③ 複合（両方が寄与）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06-4FD7-A83C-B195128ABC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7DEE1"/>
            </a:solidFill>
          </a:ln>
        </c:spPr>
        <c:txPr>
          <a:bodyPr/>
          <a:lstStyle/>
          <a:p>
            <a:pPr>
              <a:defRPr sz="1300">
                <a:latin typeface="Calibri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4F8A14E-9E13-7F09-A8BB-105EDDF5B3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F5E8D8-8603-C8E5-38BF-0C9AD29B50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2C674-C69D-4D18-8EED-DC4008985947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E5979E9-0FBD-962E-A6C4-0A38869CEF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6BBA83-5FE3-7FAC-2416-358842B31FC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C2F1C-4CD2-4DCD-8E6C-2C4DE65179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811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6F50-696E-D04C-AE08-44211A95842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52060-1792-EE47-96BE-9CF39826E1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3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52060-1792-EE47-96BE-9CF39826E1B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82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357119"/>
            <a:ext cx="12192000" cy="2078355"/>
          </a:xfrm>
          <a:prstGeom prst="rect">
            <a:avLst/>
          </a:prstGeom>
        </p:spPr>
        <p:txBody>
          <a:bodyPr tIns="252000" anchor="ctr"/>
          <a:lstStyle>
            <a:lvl1pPr algn="l">
              <a:defRPr sz="4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8E7F8F94-F915-49AA-8128-C967B53746BE}" type="datetime1">
              <a:rPr lang="en-US" altLang="ja-JP" smtClean="0"/>
              <a:t>7/9/2026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fld id="{3F62EEE0-966F-4F25-A6E4-A7FE1F568D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ACE4D3-6229-F6EF-B45A-EC7827AFD1D3}"/>
              </a:ext>
            </a:extLst>
          </p:cNvPr>
          <p:cNvSpPr txBox="1"/>
          <p:nvPr userDrawn="1"/>
        </p:nvSpPr>
        <p:spPr>
          <a:xfrm>
            <a:off x="220807" y="-26816"/>
            <a:ext cx="48478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カテーテル進捗報告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【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日時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】 2026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年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月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【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場所</a:t>
            </a:r>
            <a:r>
              <a:rPr lang="en-US" altLang="ja-JP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】</a:t>
            </a:r>
            <a:r>
              <a:rPr lang="ja-JP" altLang="en-US" sz="1400" b="0" i="0" dirty="0">
                <a:solidFill>
                  <a:schemeClr val="bg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荒井研究室</a:t>
            </a:r>
            <a:endParaRPr lang="en-US" altLang="ja-JP" sz="1400" b="0" i="0" dirty="0">
              <a:solidFill>
                <a:schemeClr val="bg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B13EEB85-4A52-4039-A6CC-BABC8BF221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5922" y="4683950"/>
            <a:ext cx="5400000" cy="1656000"/>
          </a:xfrm>
        </p:spPr>
        <p:txBody>
          <a:bodyPr anchor="ctr" anchorCtr="0"/>
          <a:lstStyle>
            <a:lvl1pPr marL="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9144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 marL="1371600" indent="0" algn="l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 marL="1828800" indent="0" algn="l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コンテンツ プレースホルダー 20">
            <a:extLst>
              <a:ext uri="{FF2B5EF4-FFF2-40B4-BE49-F238E27FC236}">
                <a16:creationId xmlns:a16="http://schemas.microsoft.com/office/drawing/2014/main" id="{50C1AA2D-FFDE-5243-21AE-181BBDEB22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14580" y="4683950"/>
            <a:ext cx="5400000" cy="1656000"/>
          </a:xfrm>
        </p:spPr>
        <p:txBody>
          <a:bodyPr anchor="ctr" anchorCtr="0"/>
          <a:lstStyle>
            <a:lvl1pPr marL="0" indent="0" algn="r">
              <a:buNone/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l">
              <a:buNone/>
              <a:defRPr/>
            </a:lvl2pPr>
            <a:lvl3pPr marL="914400" indent="0" algn="l">
              <a:buNone/>
              <a:defRPr/>
            </a:lvl3pPr>
            <a:lvl4pPr marL="1371600" indent="0" algn="l">
              <a:buNone/>
              <a:defRPr/>
            </a:lvl4pPr>
            <a:lvl5pPr marL="1828800" indent="0" algn="l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2112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-519767" y="0"/>
            <a:ext cx="12192000" cy="720000"/>
          </a:xfrm>
        </p:spPr>
        <p:txBody>
          <a:bodyPr wrap="square" lIns="612000" tIns="180000" rIns="468000" bIns="0" anchor="ctr" anchorCtr="0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1815" y="929585"/>
            <a:ext cx="11442251" cy="5383162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20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600"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>
              <a:defRPr sz="1600"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B579-CEBB-41DC-A24B-A61159350BB9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9448001" y="6356350"/>
            <a:ext cx="2743200" cy="365125"/>
          </a:xfrm>
        </p:spPr>
        <p:txBody>
          <a:bodyPr/>
          <a:lstStyle>
            <a:lvl1pPr>
              <a:defRPr sz="2400"/>
            </a:lvl1pPr>
          </a:lstStyle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04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895350"/>
            <a:ext cx="5181600" cy="5281613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895350"/>
            <a:ext cx="5181600" cy="528161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CD25-8656-48DC-B08E-4F60313E2DED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6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7200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A745-30AF-4B37-8813-0648BF19EADB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69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E2F176-2C36-44C9-8B2C-BFEF473DB8AF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320000" bIns="0" rtlCol="0" anchor="ctr" anchorCtr="1"/>
          <a:lstStyle/>
          <a:p>
            <a:pPr algn="ctr"/>
            <a:r>
              <a:rPr kumimoji="1" lang="en-US" altLang="ja-JP"/>
              <a:t>\</a:t>
            </a:r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-519770" y="-24"/>
            <a:ext cx="12192001" cy="720000"/>
          </a:xfrm>
          <a:prstGeom prst="rect">
            <a:avLst/>
          </a:prstGeom>
        </p:spPr>
        <p:txBody>
          <a:bodyPr vert="horz" lIns="612000" tIns="180000" rIns="360000" bIns="0" rtlCol="0" anchor="ctr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936284"/>
            <a:ext cx="10515600" cy="520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4C9A2-7A3A-453A-AAD6-0EBAAAD3B83C}" type="datetime1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373BD-FC6B-444D-A94B-9C28113BFCF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 descr="ロゴ&#10;&#10;自動的に生成された説明">
            <a:extLst>
              <a:ext uri="{FF2B5EF4-FFF2-40B4-BE49-F238E27FC236}">
                <a16:creationId xmlns:a16="http://schemas.microsoft.com/office/drawing/2014/main" id="{E06F3A8C-E41F-8DE5-08EC-BE9996A40A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719" y="-6436"/>
            <a:ext cx="96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5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4" r:id="rId2"/>
    <p:sldLayoutId id="2147483676" r:id="rId3"/>
    <p:sldLayoutId id="214748367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B4C9661-AEA2-7445-4F47-584B0ED6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4"/>
            <a:ext cx="10515600" cy="261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1D533C-205D-1733-F14A-44A74726E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9A4FE-1336-44FA-AD44-4553CB4BE3C4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D91F37-E2FB-16B9-C9E1-8D19ABC87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3FAA7D-4209-00B2-B05D-07AC87983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71426-66AF-4FFF-B6DE-5A90C572E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649C160E-E424-E5AB-2F23-AF36DAF85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333"/>
            <a:ext cx="10515600" cy="5753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0085510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4E58C9-E268-EBEE-3D9C-D997FC272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カテーテルゼミ資料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FC5941-4B00-46A6-8165-997043C6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EE0-966F-4F25-A6E4-A7FE1F568DB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AC9FA5-91C8-CDE7-A489-1E7F42CB54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6F85061-AE86-2896-8CF1-952C992DFA8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/>
              <a:t>井坂玄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31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DBF40-BDBE-C650-582E-A177E2E4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30F6D4-F9B8-D78E-3A73-9E291C8F8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815" y="929585"/>
            <a:ext cx="11442251" cy="2258783"/>
          </a:xfrm>
        </p:spPr>
        <p:txBody>
          <a:bodyPr/>
          <a:lstStyle/>
          <a:p>
            <a:r>
              <a:rPr lang="ja-JP" altLang="en-US" dirty="0"/>
              <a:t>カテーテル箱を同じ種類でまとめて配置した画像を</a:t>
            </a:r>
            <a:r>
              <a:rPr lang="en-US" altLang="ja-JP" dirty="0"/>
              <a:t>100</a:t>
            </a:r>
            <a:r>
              <a:rPr lang="ja-JP" altLang="en-US" dirty="0"/>
              <a:t>枚用意した．そのうち，</a:t>
            </a:r>
            <a:endParaRPr lang="en-US" altLang="ja-JP" dirty="0"/>
          </a:p>
          <a:p>
            <a:pPr lvl="1"/>
            <a:r>
              <a:rPr lang="ja-JP" altLang="en-US" dirty="0"/>
              <a:t>詰めて立てた画像を</a:t>
            </a:r>
            <a:r>
              <a:rPr lang="en-US" altLang="ja-JP" dirty="0"/>
              <a:t>50</a:t>
            </a:r>
            <a:r>
              <a:rPr lang="ja-JP" altLang="en-US" dirty="0"/>
              <a:t>枚</a:t>
            </a:r>
            <a:endParaRPr lang="en-US" altLang="ja-JP" dirty="0"/>
          </a:p>
          <a:p>
            <a:pPr lvl="1"/>
            <a:r>
              <a:rPr lang="ja-JP" altLang="en-US" dirty="0"/>
              <a:t>斜めに立てた画像を</a:t>
            </a:r>
            <a:r>
              <a:rPr lang="en-US" altLang="ja-JP" dirty="0"/>
              <a:t>50</a:t>
            </a:r>
            <a:r>
              <a:rPr lang="ja-JP" altLang="en-US" dirty="0"/>
              <a:t>枚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用意した．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0290AF-3D67-75DF-9F7A-1F792AF82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50E9C8-4127-FA0C-D086-3C9C227AA49A}"/>
              </a:ext>
            </a:extLst>
          </p:cNvPr>
          <p:cNvSpPr txBox="1"/>
          <p:nvPr/>
        </p:nvSpPr>
        <p:spPr>
          <a:xfrm>
            <a:off x="2032932" y="6169580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詰めて立てた画像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9B46D9-62A2-9158-37C0-5DD0BCA1CB8B}"/>
              </a:ext>
            </a:extLst>
          </p:cNvPr>
          <p:cNvSpPr txBox="1"/>
          <p:nvPr/>
        </p:nvSpPr>
        <p:spPr>
          <a:xfrm>
            <a:off x="7666684" y="6169580"/>
            <a:ext cx="288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斜めに立てた画像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5450278-CD8C-5C1A-70D2-52FD94EB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21353" y="3499342"/>
            <a:ext cx="4526280" cy="254603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AAFD62C-5D81-41A8-2C73-C0247527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844369" y="3499341"/>
            <a:ext cx="4526281" cy="25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3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17F73-BB55-383C-99EE-AC1E0E1A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試験結果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86E45-DFC3-506A-D5F4-9E1D52855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2A6148-7358-9334-F2CF-2E42015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9951CF5-D579-6AA2-DA31-FDB26A38F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07854"/>
              </p:ext>
            </p:extLst>
          </p:nvPr>
        </p:nvGraphicFramePr>
        <p:xfrm>
          <a:off x="950829" y="2255520"/>
          <a:ext cx="10244222" cy="44659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62044">
                  <a:extLst>
                    <a:ext uri="{9D8B030D-6E8A-4147-A177-3AD203B41FA5}">
                      <a16:colId xmlns:a16="http://schemas.microsoft.com/office/drawing/2014/main" val="3362978446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1005974728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511314604"/>
                    </a:ext>
                  </a:extLst>
                </a:gridCol>
                <a:gridCol w="1760726">
                  <a:extLst>
                    <a:ext uri="{9D8B030D-6E8A-4147-A177-3AD203B41FA5}">
                      <a16:colId xmlns:a16="http://schemas.microsoft.com/office/drawing/2014/main" val="2521693453"/>
                    </a:ext>
                  </a:extLst>
                </a:gridCol>
              </a:tblGrid>
              <a:tr h="3028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book_name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2mm未満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2mm以上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認識失敗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243000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TransForm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60.0%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5915257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Target XL®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712781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Synchro SELECT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3429874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Eccelsior® XT-27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5083132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Surpass Evolve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098312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AXS Vecta® 46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80.0%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8658840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pNOVUS 17 Microcatheter 150cm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70.0%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10.0%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4968558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Medtronic Phenom 21 Catheter 160cm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8979896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Medtronic Riptide Large Bore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40.0%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20.0%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9113281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stryker UPN: M00345100950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60.0%</a:t>
                      </a:r>
                      <a:endParaRPr lang="ja-JP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40.0%</a:t>
                      </a:r>
                      <a:endParaRPr lang="ja-JP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51625739"/>
                  </a:ext>
                </a:extLst>
              </a:tr>
              <a:tr h="3028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全体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53.0%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>
                          <a:effectLst/>
                        </a:rPr>
                        <a:t>32.0%</a:t>
                      </a:r>
                      <a:endParaRPr lang="ja-JP" sz="2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sz="2400" u="none" strike="noStrike" dirty="0">
                          <a:effectLst/>
                        </a:rPr>
                        <a:t>15.0%</a:t>
                      </a:r>
                      <a:endParaRPr lang="ja-JP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3507942"/>
                  </a:ext>
                </a:extLst>
              </a:tr>
            </a:tbl>
          </a:graphicData>
        </a:graphic>
      </p:graphicFrame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8D2FCE10-05C8-E6C0-131B-0A9CBB22B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4694"/>
              </p:ext>
            </p:extLst>
          </p:nvPr>
        </p:nvGraphicFramePr>
        <p:xfrm>
          <a:off x="950828" y="1200149"/>
          <a:ext cx="10213543" cy="935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7062">
                  <a:extLst>
                    <a:ext uri="{9D8B030D-6E8A-4147-A177-3AD203B41FA5}">
                      <a16:colId xmlns:a16="http://schemas.microsoft.com/office/drawing/2014/main" val="885892102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615406905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237643598"/>
                    </a:ext>
                  </a:extLst>
                </a:gridCol>
                <a:gridCol w="1734621">
                  <a:extLst>
                    <a:ext uri="{9D8B030D-6E8A-4147-A177-3AD203B41FA5}">
                      <a16:colId xmlns:a16="http://schemas.microsoft.com/office/drawing/2014/main" val="2944906223"/>
                    </a:ext>
                  </a:extLst>
                </a:gridCol>
              </a:tblGrid>
              <a:tr h="4678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誤差 ＜ </a:t>
                      </a: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2㎜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誤差 ≧ </a:t>
                      </a: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2㎜</a:t>
                      </a:r>
                      <a:endParaRPr lang="ja-JP" alt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000" b="1" u="none" strike="noStrike" dirty="0">
                          <a:effectLst/>
                        </a:rPr>
                        <a:t>認識失敗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8233765"/>
                  </a:ext>
                </a:extLst>
              </a:tr>
              <a:tr h="4678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CJK SC"/>
                        </a:rPr>
                        <a:t>件数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Noto Sans CJK SC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ja-JP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37961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44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6C285-EFCD-D2C3-2300-9D03FFC7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計算工程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F18948-2C94-2BEA-DFCD-45C66AB5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382" y="2405669"/>
            <a:ext cx="2743201" cy="2735793"/>
          </a:xfrm>
        </p:spPr>
        <p:txBody>
          <a:bodyPr/>
          <a:lstStyle/>
          <a:p>
            <a:r>
              <a:rPr lang="ja-JP" altLang="en-US" dirty="0"/>
              <a:t>誤差</a:t>
            </a:r>
            <a:r>
              <a:rPr lang="en-US" altLang="ja-JP" dirty="0"/>
              <a:t>0</a:t>
            </a:r>
            <a:r>
              <a:rPr lang="ja-JP" altLang="en-US" dirty="0"/>
              <a:t>．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DDD228-630C-AC1C-63C9-582BFE7F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1104C79-A7CC-879A-A913-274F80A5E3E0}"/>
              </a:ext>
            </a:extLst>
          </p:cNvPr>
          <p:cNvSpPr txBox="1">
            <a:spLocks/>
          </p:cNvSpPr>
          <p:nvPr/>
        </p:nvSpPr>
        <p:spPr>
          <a:xfrm>
            <a:off x="504215" y="1081985"/>
            <a:ext cx="11442251" cy="5383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kumimoji="1" sz="20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l"/>
              <a:defRPr kumimoji="1" sz="18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kern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工程</a:t>
            </a:r>
            <a:endParaRPr lang="en-US" altLang="ja-JP"/>
          </a:p>
          <a:p>
            <a:endParaRPr lang="en-US" altLang="ja-JP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654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51916-20B7-38D6-6663-A39024DF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537FAD-CB7D-2159-9269-9CFD32371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97BB9A-AA95-4973-0194-917EB4A8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6" name="Chart 7">
            <a:extLst>
              <a:ext uri="{FF2B5EF4-FFF2-40B4-BE49-F238E27FC236}">
                <a16:creationId xmlns:a16="http://schemas.microsoft.com/office/drawing/2014/main" id="{3778BB6B-2070-1CE4-F706-BD63F753CBA0}"/>
              </a:ext>
            </a:extLst>
          </p:cNvPr>
          <p:cNvGraphicFramePr>
            <a:graphicFrameLocks noGrp="1"/>
          </p:cNvGraphicFramePr>
          <p:nvPr/>
        </p:nvGraphicFramePr>
        <p:xfrm>
          <a:off x="502920" y="1874520"/>
          <a:ext cx="11185855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733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90D665-9261-CBC7-9D72-B0069F68E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原因特定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8834A1-1AFE-B4D1-49F8-BB5BB371E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マスクが正確に張られていない．</a:t>
            </a:r>
            <a:endParaRPr kumimoji="1" lang="en-US" altLang="ja-JP" dirty="0"/>
          </a:p>
          <a:p>
            <a:pPr lvl="1"/>
            <a:r>
              <a:rPr lang="ja-JP" altLang="en-US" dirty="0"/>
              <a:t>斜めに立てかけた場合など，背表紙以外が見えた場合に起こった．</a:t>
            </a:r>
            <a:endParaRPr lang="en-US" altLang="ja-JP" dirty="0"/>
          </a:p>
          <a:p>
            <a:r>
              <a:rPr lang="ja-JP" altLang="en-US" dirty="0"/>
              <a:t>文字の大きさ</a:t>
            </a:r>
            <a:endParaRPr lang="en-US" altLang="ja-JP" dirty="0"/>
          </a:p>
          <a:p>
            <a:pPr lvl="1"/>
            <a:r>
              <a:rPr lang="ja-JP" altLang="en-US" dirty="0"/>
              <a:t>比較的小さいものは認識率が低かった．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151775-A785-FBDC-DC9A-F050544F4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CD27F2E-5C77-3EF8-158A-9938D8B86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49607" y="3075930"/>
            <a:ext cx="5071084" cy="2852485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B5788D9-3F48-5104-2E24-FA76D639BC6A}"/>
              </a:ext>
            </a:extLst>
          </p:cNvPr>
          <p:cNvSpPr txBox="1"/>
          <p:nvPr/>
        </p:nvSpPr>
        <p:spPr>
          <a:xfrm>
            <a:off x="3954145" y="6359525"/>
            <a:ext cx="42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正常に貼られていない例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AEF13FE-CCB7-D540-C0AD-B01877CE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15170" y="3075930"/>
            <a:ext cx="5071083" cy="285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4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556F2A-A45A-3A05-E248-F6366106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認識失敗原因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5375C-E9F4-7A5C-A683-7EFF7C61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マスクは正常に貼られているが，開口幅推定値が最大</a:t>
            </a:r>
            <a:r>
              <a:rPr kumimoji="1" lang="en-US" altLang="ja-JP" dirty="0"/>
              <a:t>80%</a:t>
            </a:r>
            <a:r>
              <a:rPr kumimoji="1" lang="ja-JP" altLang="en-US" dirty="0"/>
              <a:t>ずれた．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推定の過程でエラーが出たと考えられる．</a:t>
            </a:r>
            <a:endParaRPr lang="en-US" altLang="ja-JP" dirty="0"/>
          </a:p>
          <a:p>
            <a:r>
              <a:rPr lang="en-US" altLang="ja-JP" dirty="0"/>
              <a:t>Target XL </a:t>
            </a:r>
            <a:r>
              <a:rPr lang="ja-JP" altLang="en-US" dirty="0"/>
              <a:t>の認識成功率が</a:t>
            </a:r>
            <a:r>
              <a:rPr lang="en-US" altLang="ja-JP" dirty="0"/>
              <a:t>33%</a:t>
            </a:r>
            <a:r>
              <a:rPr lang="ja-JP" altLang="en-US" dirty="0"/>
              <a:t>以下と非常に低かった．</a:t>
            </a:r>
            <a:endParaRPr lang="en-US" altLang="ja-JP" dirty="0"/>
          </a:p>
          <a:p>
            <a:pPr lvl="1"/>
            <a:r>
              <a:rPr lang="ja-JP" altLang="en-US" dirty="0"/>
              <a:t>原因不明．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CA89ED-3D09-611B-32D3-CA5C3C2D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5" name="コンテンツ プレースホルダー 5">
            <a:extLst>
              <a:ext uri="{FF2B5EF4-FFF2-40B4-BE49-F238E27FC236}">
                <a16:creationId xmlns:a16="http://schemas.microsoft.com/office/drawing/2014/main" id="{706701D6-23BD-18C8-B311-9DEA87F15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6986" y="3191673"/>
            <a:ext cx="5071083" cy="285248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DC93B34-8C70-5915-E2C9-EA4B4594F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93932" y="3191672"/>
            <a:ext cx="5071083" cy="285248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3C9CE7-6C61-C75B-9D87-6D17D41C4C4E}"/>
              </a:ext>
            </a:extLst>
          </p:cNvPr>
          <p:cNvSpPr txBox="1"/>
          <p:nvPr/>
        </p:nvSpPr>
        <p:spPr>
          <a:xfrm>
            <a:off x="3954145" y="6359525"/>
            <a:ext cx="428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正常に貼られていない例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431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C7668-8FD9-27DA-2B0E-C4506CE6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改善案，原因特定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E6A818-940C-270D-AEED-C98AAFDF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3200" dirty="0"/>
              <a:t>カメラの位置を前に寄せる．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文字認識結果とマスクの結合処理の関係を調べる．</a:t>
            </a:r>
            <a:endParaRPr lang="en-US" altLang="ja-JP" sz="3200" dirty="0"/>
          </a:p>
          <a:p>
            <a:r>
              <a:rPr lang="ja-JP" altLang="en-US" sz="3200" dirty="0"/>
              <a:t>幅推定のコードを見直す．</a:t>
            </a:r>
            <a:endParaRPr lang="en-US" altLang="ja-JP" sz="3200" dirty="0"/>
          </a:p>
          <a:p>
            <a:r>
              <a:rPr lang="ja-JP" altLang="en-US" sz="3200" dirty="0"/>
              <a:t>明るさを変える．</a:t>
            </a:r>
            <a:endParaRPr lang="en-US" altLang="ja-JP" sz="3200" dirty="0"/>
          </a:p>
          <a:p>
            <a:endParaRPr lang="en-US" altLang="ja-JP" sz="3200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31E22B-DE19-430F-5176-CEB82CDF6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373BD-FC6B-444D-A94B-9C28113BFCF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54157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raiLab" id="{BF01C95A-CBB5-4D50-A264-C1694BD51B51}" vid="{BEA7A36C-C730-439A-86D5-3D951327B931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AraiLab</Template>
  <TotalTime>1052</TotalTime>
  <Words>280</Words>
  <Application>Microsoft Office PowerPoint</Application>
  <PresentationFormat>ワイド画面</PresentationFormat>
  <Paragraphs>96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Noto Sans CJK SC</vt:lpstr>
      <vt:lpstr>Yu Gothic UI</vt:lpstr>
      <vt:lpstr>游ゴシック</vt:lpstr>
      <vt:lpstr>游ゴシック Light</vt:lpstr>
      <vt:lpstr>Arial</vt:lpstr>
      <vt:lpstr>Calibri</vt:lpstr>
      <vt:lpstr>Wingdings</vt:lpstr>
      <vt:lpstr>2_Office テーマ</vt:lpstr>
      <vt:lpstr>デザインの設定</vt:lpstr>
      <vt:lpstr>カテーテルゼミ資料</vt:lpstr>
      <vt:lpstr>試験概要</vt:lpstr>
      <vt:lpstr>試験結果</vt:lpstr>
      <vt:lpstr>計算工程</vt:lpstr>
      <vt:lpstr>PowerPoint プレゼンテーション</vt:lpstr>
      <vt:lpstr>原因特定</vt:lpstr>
      <vt:lpstr>認識失敗原因</vt:lpstr>
      <vt:lpstr>改善案，原因特定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井坂玄</dc:creator>
  <cp:lastModifiedBy>井坂　玄</cp:lastModifiedBy>
  <cp:revision>4</cp:revision>
  <cp:lastPrinted>2026-07-07T05:15:02Z</cp:lastPrinted>
  <dcterms:created xsi:type="dcterms:W3CDTF">2026-04-09T23:13:33Z</dcterms:created>
  <dcterms:modified xsi:type="dcterms:W3CDTF">2026-07-09T23:33:55Z</dcterms:modified>
</cp:coreProperties>
</file>