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9" r:id="rId2"/>
  </p:sldMasterIdLst>
  <p:notesMasterIdLst>
    <p:notesMasterId r:id="rId11"/>
  </p:notesMasterIdLst>
  <p:handoutMasterIdLst>
    <p:handoutMasterId r:id="rId12"/>
  </p:handoutMasterIdLst>
  <p:sldIdLst>
    <p:sldId id="378" r:id="rId3"/>
    <p:sldId id="380" r:id="rId4"/>
    <p:sldId id="381" r:id="rId5"/>
    <p:sldId id="382" r:id="rId10"/>
    <p:sldId id="383" r:id="rId9"/>
    <p:sldId id="384" r:id="rId8"/>
    <p:sldId id="385" r:id="rId7"/>
    <p:sldId id="386" r:id="rId6"/>
    <p:sldId id="387" r:id="rId17"/>
    <p:sldId id="388" r:id="rId18"/>
    <p:sldId id="389" r:id="rId19"/>
  </p:sldIdLst>
  <p:sldSz cx="12192000" cy="6858000"/>
  <p:notesSz cx="9866313" cy="67357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FFFFFF"/>
    <a:srgbClr val="EAEEF2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94704"/>
  </p:normalViewPr>
  <p:slideViewPr>
    <p:cSldViewPr snapToGrid="0">
      <p:cViewPr varScale="1">
        <p:scale>
          <a:sx n="56" d="100"/>
          <a:sy n="56" d="100"/>
        </p:scale>
        <p:origin x="86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stryker</c:v>
                </c:pt>
              </c:strCache>
            </c:strRef>
          </c:tx>
          <c:spPr>
            <a:solidFill>
              <a:srgbClr val="C00000"/>
            </a:solidFill>
            <a:ln w="9525"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② マスク選択が原因（入口）</c:v>
                </c:pt>
                <c:pt idx="1">
                  <c:v>① 最終計算が原因（出口）</c:v>
                </c:pt>
                <c:pt idx="2">
                  <c:v>③ 複合（両方が寄与）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Eccelsior®</c:v>
                </c:pt>
              </c:strCache>
            </c:strRef>
          </c:tx>
          <c:spPr>
            <a:solidFill>
              <a:srgbClr val="ED7D31"/>
            </a:solidFill>
            <a:ln w="9525"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② マスク選択が原因（入口）</c:v>
                </c:pt>
                <c:pt idx="1">
                  <c:v>① 最終計算が原因（出口）</c:v>
                </c:pt>
                <c:pt idx="2">
                  <c:v>③ 複合（両方が寄与）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Riptide</c:v>
                </c:pt>
              </c:strCache>
            </c:strRef>
          </c:tx>
          <c:spPr>
            <a:solidFill>
              <a:srgbClr val="FFC000"/>
            </a:solidFill>
            <a:ln w="9525"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② マスク選択が原因（入口）</c:v>
                </c:pt>
                <c:pt idx="1">
                  <c:v>① 最終計算が原因（出口）</c:v>
                </c:pt>
                <c:pt idx="2">
                  <c:v>③ 複合（両方が寄与）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Surpass Evolve</c:v>
                </c:pt>
              </c:strCache>
            </c:strRef>
          </c:tx>
          <c:spPr>
            <a:solidFill>
              <a:srgbClr val="5B9BD5"/>
            </a:solidFill>
            <a:ln w="9525"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② マスク選択が原因（入口）</c:v>
                </c:pt>
                <c:pt idx="1">
                  <c:v>① 最終計算が原因（出口）</c:v>
                </c:pt>
                <c:pt idx="2">
                  <c:v>③ 複合（両方が寄与）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Target XL®</c:v>
                </c:pt>
              </c:strCache>
            </c:strRef>
          </c:tx>
          <c:spPr>
            <a:solidFill>
              <a:srgbClr val="70AD47"/>
            </a:solidFill>
            <a:ln w="9525"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② マスク選択が原因（入口）</c:v>
                </c:pt>
                <c:pt idx="1">
                  <c:v>① 最終計算が原因（出口）</c:v>
                </c:pt>
                <c:pt idx="2">
                  <c:v>③ 複合（両方が寄与）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Phenom21</c:v>
                </c:pt>
              </c:strCache>
            </c:strRef>
          </c:tx>
          <c:spPr>
            <a:solidFill>
              <a:srgbClr val="A5A5A5"/>
            </a:solidFill>
            <a:ln w="9525"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② マスク選択が原因（入口）</c:v>
                </c:pt>
                <c:pt idx="1">
                  <c:v>① 最終計算が原因（出口）</c:v>
                </c:pt>
                <c:pt idx="2">
                  <c:v>③ 複合（両方が寄与）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TransForm</c:v>
                </c:pt>
              </c:strCache>
            </c:strRef>
          </c:tx>
          <c:spPr>
            <a:solidFill>
              <a:srgbClr val="7F7F00"/>
            </a:solidFill>
            <a:ln w="9525"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② マスク選択が原因（入口）</c:v>
                </c:pt>
                <c:pt idx="1">
                  <c:v>① 最終計算が原因（出口）</c:v>
                </c:pt>
                <c:pt idx="2">
                  <c:v>③ 複合（両方が寄与）</c:v>
                </c:pt>
              </c:strCache>
            </c: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AXS Vecta®</c:v>
                </c:pt>
              </c:strCache>
            </c:strRef>
          </c:tx>
          <c:spPr>
            <a:solidFill>
              <a:srgbClr val="9E480E"/>
            </a:solidFill>
            <a:ln w="9525"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② マスク選択が原因（入口）</c:v>
                </c:pt>
                <c:pt idx="1">
                  <c:v>① 最終計算が原因（出口）</c:v>
                </c:pt>
                <c:pt idx="2">
                  <c:v>③ 複合（両方が寄与）</c:v>
                </c:pt>
              </c:strCache>
            </c:strRef>
          </c:cat>
          <c:val>
            <c:numRef>
              <c:f>Sheet1!$I$2:$I$4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2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pNOVUS17</c:v>
                </c:pt>
              </c:strCache>
            </c:strRef>
          </c:tx>
          <c:spPr>
            <a:solidFill>
              <a:srgbClr val="636363"/>
            </a:solidFill>
            <a:ln w="9525">
              <a:solidFill>
                <a:srgbClr val="FFFFFF"/>
              </a:solidFill>
            </a:ln>
          </c:spPr>
          <c:cat>
            <c:strRef>
              <c:f>Sheet1!$A$2:$A$4</c:f>
              <c:strCache>
                <c:ptCount val="3"/>
                <c:pt idx="0">
                  <c:v>② マスク選択が原因（入口）</c:v>
                </c:pt>
                <c:pt idx="1">
                  <c:v>① 最終計算が原因（出口）</c:v>
                </c:pt>
                <c:pt idx="2">
                  <c:v>③ 複合（両方が寄与）</c:v>
                </c:pt>
              </c:strCache>
            </c:strRef>
          </c:cat>
          <c:val>
            <c:numRef>
              <c:f>Sheet1!$J$2:$J$4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105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7E6E6"/>
            </a:solidFill>
          </a:ln>
        </c:spPr>
        <c:txPr>
          <a:bodyPr/>
          <a:lstStyle/>
          <a:p>
            <a:pPr>
              <a:defRPr sz="1250">
                <a:latin typeface="Yu Gothic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Yu Gothic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14F8A14E-9E13-7F09-A8BB-105EDDF5B3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F5E8D8-8603-C8E5-38BF-0C9AD29B50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88628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2C674-C69D-4D18-8EED-DC4008985947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E5979E9-0FBD-962E-A6C4-0A38869CEF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56BBA83-5FE3-7FAC-2416-358842B31F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88628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C2F1C-4CD2-4DCD-8E6C-2C4DE65179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811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06F50-696E-D04C-AE08-44211A95842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913063" y="841375"/>
            <a:ext cx="4040187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88628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52060-1792-EE47-96BE-9CF39826E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36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52060-1792-EE47-96BE-9CF39826E1B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82087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2357119"/>
            <a:ext cx="12192000" cy="2078355"/>
          </a:xfrm>
          <a:prstGeom prst="rect">
            <a:avLst/>
          </a:prstGeom>
        </p:spPr>
        <p:txBody>
          <a:bodyPr tIns="252000" anchor="ctr"/>
          <a:lstStyle>
            <a:lvl1pPr algn="l">
              <a:defRPr sz="4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fld id="{8E7F8F94-F915-49AA-8128-C967B53746BE}" type="datetime1">
              <a:rPr lang="en-US" altLang="ja-JP" smtClean="0"/>
              <a:t>7/9/2026</a:t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endParaRPr 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fld id="{3F62EEE0-966F-4F25-A6E4-A7FE1F568DB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4ACE4D3-6229-F6EF-B45A-EC7827AFD1D3}"/>
              </a:ext>
            </a:extLst>
          </p:cNvPr>
          <p:cNvSpPr txBox="1"/>
          <p:nvPr userDrawn="1"/>
        </p:nvSpPr>
        <p:spPr>
          <a:xfrm>
            <a:off x="220807" y="-26816"/>
            <a:ext cx="48478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lang="ja-JP" altLang="en-US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カテーテル進捗報告</a:t>
            </a:r>
            <a:endParaRPr lang="en-US" altLang="ja-JP" sz="1400" b="0" i="0" dirty="0">
              <a:solidFill>
                <a:schemeClr val="bg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【</a:t>
            </a:r>
            <a:r>
              <a:rPr lang="ja-JP" altLang="en-US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日時</a:t>
            </a:r>
            <a:r>
              <a:rPr lang="en-US" altLang="ja-JP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】 2026</a:t>
            </a:r>
            <a:r>
              <a:rPr lang="ja-JP" altLang="en-US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年</a:t>
            </a:r>
            <a:r>
              <a:rPr lang="en-US" altLang="ja-JP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7</a:t>
            </a:r>
            <a:r>
              <a:rPr lang="ja-JP" altLang="en-US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月</a:t>
            </a:r>
            <a:r>
              <a:rPr lang="en-US" altLang="ja-JP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7</a:t>
            </a:r>
            <a:r>
              <a:rPr lang="ja-JP" altLang="en-US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日</a:t>
            </a:r>
            <a:endParaRPr lang="en-US" altLang="ja-JP" sz="1400" b="0" i="0" dirty="0">
              <a:solidFill>
                <a:schemeClr val="bg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【</a:t>
            </a:r>
            <a:r>
              <a:rPr lang="ja-JP" altLang="en-US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場所</a:t>
            </a:r>
            <a:r>
              <a:rPr lang="en-US" altLang="ja-JP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】</a:t>
            </a:r>
            <a:r>
              <a:rPr lang="ja-JP" altLang="en-US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荒井研究室</a:t>
            </a:r>
            <a:endParaRPr lang="en-US" altLang="ja-JP" sz="1400" b="0" i="0" dirty="0">
              <a:solidFill>
                <a:schemeClr val="bg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コンテンツ プレースホルダー 20">
            <a:extLst>
              <a:ext uri="{FF2B5EF4-FFF2-40B4-BE49-F238E27FC236}">
                <a16:creationId xmlns:a16="http://schemas.microsoft.com/office/drawing/2014/main" id="{B13EEB85-4A52-4039-A6CC-BABC8BF221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5922" y="4683950"/>
            <a:ext cx="5400000" cy="1656000"/>
          </a:xfrm>
        </p:spPr>
        <p:txBody>
          <a:bodyPr anchor="ctr" anchorCtr="0"/>
          <a:lstStyle>
            <a:lvl1pPr marL="0" indent="0" algn="l">
              <a:buNone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l">
              <a:buNone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914400" indent="0" algn="l">
              <a:buNone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 marL="1371600" indent="0" algn="l">
              <a:buNone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828800" indent="0" algn="l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コンテンツ プレースホルダー 20">
            <a:extLst>
              <a:ext uri="{FF2B5EF4-FFF2-40B4-BE49-F238E27FC236}">
                <a16:creationId xmlns:a16="http://schemas.microsoft.com/office/drawing/2014/main" id="{50C1AA2D-FFDE-5243-21AE-181BBDEB22C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14580" y="4683950"/>
            <a:ext cx="5400000" cy="1656000"/>
          </a:xfrm>
        </p:spPr>
        <p:txBody>
          <a:bodyPr anchor="ctr" anchorCtr="0"/>
          <a:lstStyle>
            <a:lvl1pPr marL="0" indent="0" algn="r">
              <a:buNone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821121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-519767" y="0"/>
            <a:ext cx="12192000" cy="720000"/>
          </a:xfrm>
        </p:spPr>
        <p:txBody>
          <a:bodyPr wrap="square" lIns="612000" tIns="180000" rIns="468000" bIns="0" anchor="ctr" anchorCtr="0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1815" y="929585"/>
            <a:ext cx="11442251" cy="5383162"/>
          </a:xfrm>
        </p:spPr>
        <p:txBody>
          <a:bodyPr>
            <a:normAutofit/>
          </a:bodyPr>
          <a:lstStyle>
            <a:lvl1pPr>
              <a:defRPr sz="24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>
              <a:defRPr sz="20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1143000" indent="-228600">
              <a:buFont typeface="Wingdings" panose="05000000000000000000" pitchFamily="2" charset="2"/>
              <a:buChar char="l"/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>
              <a:defRPr sz="1600"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>
              <a:defRPr sz="1600"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B579-CEBB-41DC-A24B-A61159350BB9}" type="datetime1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9448001" y="6356350"/>
            <a:ext cx="2743200" cy="365125"/>
          </a:xfrm>
        </p:spPr>
        <p:txBody>
          <a:bodyPr/>
          <a:lstStyle>
            <a:lvl1pPr>
              <a:defRPr sz="2400"/>
            </a:lvl1pPr>
          </a:lstStyle>
          <a:p>
            <a:fld id="{3F2373BD-FC6B-444D-A94B-9C28113BF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8042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895350"/>
            <a:ext cx="5181600" cy="5281613"/>
          </a:xfr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895350"/>
            <a:ext cx="5181600" cy="528161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8CD25-8656-48DC-B08E-4F60313E2DED}" type="datetime1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373BD-FC6B-444D-A94B-9C28113BF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622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720000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A745-30AF-4B37-8813-0648BF19EADB}" type="datetime1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373BD-FC6B-444D-A94B-9C28113BF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76947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FE2F176-2C36-44C9-8B2C-BFEF473DB8AF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0" bIns="0" rtlCol="0" anchor="ctr" anchorCtr="1"/>
          <a:lstStyle/>
          <a:p>
            <a:pPr algn="ctr"/>
            <a:r>
              <a:rPr kumimoji="1" lang="en-US" altLang="ja-JP"/>
              <a:t>\</a:t>
            </a:r>
            <a:endParaRPr kumimoji="1" lang="ja-JP" altLang="en-US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-519770" y="-24"/>
            <a:ext cx="12192001" cy="720000"/>
          </a:xfrm>
          <a:prstGeom prst="rect">
            <a:avLst/>
          </a:prstGeom>
        </p:spPr>
        <p:txBody>
          <a:bodyPr vert="horz" lIns="612000" tIns="180000" rIns="360000" bIns="0" rtlCol="0" anchor="ctr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936284"/>
            <a:ext cx="10515600" cy="5202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4C9A2-7A3A-453A-AAD6-0EBAAAD3B83C}" type="datetime1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373BD-FC6B-444D-A94B-9C28113BF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9" name="図 8" descr="ロゴ&#10;&#10;自動的に生成された説明">
            <a:extLst>
              <a:ext uri="{FF2B5EF4-FFF2-40B4-BE49-F238E27FC236}">
                <a16:creationId xmlns:a16="http://schemas.microsoft.com/office/drawing/2014/main" id="{E06F3A8C-E41F-8DE5-08EC-BE9996A40A8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719" y="-6436"/>
            <a:ext cx="96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65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4" r:id="rId2"/>
    <p:sldLayoutId id="2147483676" r:id="rId3"/>
    <p:sldLayoutId id="214748367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B4C9661-AEA2-7445-4F47-584B0ED6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4"/>
            <a:ext cx="10515600" cy="261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1D533C-205D-1733-F14A-44A74726E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9A4FE-1336-44FA-AD44-4553CB4BE3C4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D91F37-E2FB-16B9-C9E1-8D19ABC87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3FAA7D-4209-00B2-B05D-07AC87983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871426-66AF-4FFF-B6DE-5A90C572E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649C160E-E424-E5AB-2F23-AF36DAF85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3333"/>
            <a:ext cx="10515600" cy="5753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00855102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4E58C9-E268-EBEE-3D9C-D997FC2724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カテーテルゼミ資料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FC5941-4B00-46A6-8165-997043C6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EE0-966F-4F25-A6E4-A7FE1F568DB4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AC9FA5-91C8-CDE7-A489-1E7F42CB54B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開口幅推定 誤差原因調査 - 詳細版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6F85061-AE86-2896-8CF1-952C992DFA8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t>井坂玄</a:t>
            </a:r>
          </a:p>
        </p:txBody>
      </p:sp>
    </p:spTree>
    <p:extLst>
      <p:ext uri="{BB962C8B-B14F-4D97-AF65-F5344CB8AC3E}">
        <p14:creationId xmlns:p14="http://schemas.microsoft.com/office/powerpoint/2010/main" val="3216315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3DBF40-BDBE-C650-582E-A177E2E45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試験概要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30F6D4-F9B8-D78E-3A73-9E291C8F8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815" y="929585"/>
            <a:ext cx="11442251" cy="2258783"/>
          </a:xfrm>
        </p:spPr>
        <p:txBody>
          <a:bodyPr/>
          <a:lstStyle/>
          <a:p>
            <a:r>
              <a:rPr lang="ja-JP" altLang="en-US" dirty="0"/>
              <a:t>カテーテル箱を同じ種類でまとめて配置した画像を</a:t>
            </a:r>
            <a:r>
              <a:rPr lang="en-US" altLang="ja-JP" dirty="0"/>
              <a:t>100</a:t>
            </a:r>
            <a:r>
              <a:rPr lang="ja-JP" altLang="en-US" dirty="0"/>
              <a:t>枚用意した．そのうち，</a:t>
            </a:r>
            <a:endParaRPr lang="en-US" altLang="ja-JP" dirty="0"/>
          </a:p>
          <a:p>
            <a:pPr lvl="1"/>
            <a:r>
              <a:rPr lang="ja-JP" altLang="en-US" dirty="0"/>
              <a:t>詰めて立てた画像を</a:t>
            </a:r>
            <a:r>
              <a:rPr lang="en-US" altLang="ja-JP" dirty="0"/>
              <a:t>50</a:t>
            </a:r>
            <a:r>
              <a:rPr lang="ja-JP" altLang="en-US" dirty="0"/>
              <a:t>枚</a:t>
            </a:r>
            <a:endParaRPr lang="en-US" altLang="ja-JP" dirty="0"/>
          </a:p>
          <a:p>
            <a:pPr lvl="1"/>
            <a:r>
              <a:rPr lang="ja-JP" altLang="en-US" dirty="0"/>
              <a:t>斜めに立てた画像を</a:t>
            </a:r>
            <a:r>
              <a:rPr lang="en-US" altLang="ja-JP" dirty="0"/>
              <a:t>50</a:t>
            </a:r>
            <a:r>
              <a:rPr lang="ja-JP" altLang="en-US" dirty="0"/>
              <a:t>枚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用意した．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0290AF-3D67-75DF-9F7A-1F792AF82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373BD-FC6B-444D-A94B-9C28113BFCF8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A50E9C8-4127-FA0C-D086-3C9C227AA49A}"/>
              </a:ext>
            </a:extLst>
          </p:cNvPr>
          <p:cNvSpPr txBox="1"/>
          <p:nvPr/>
        </p:nvSpPr>
        <p:spPr>
          <a:xfrm>
            <a:off x="2032932" y="6169580"/>
            <a:ext cx="21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詰めて立てた画像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B9B46D9-62A2-9158-37C0-5DD0BCA1CB8B}"/>
              </a:ext>
            </a:extLst>
          </p:cNvPr>
          <p:cNvSpPr txBox="1"/>
          <p:nvPr/>
        </p:nvSpPr>
        <p:spPr>
          <a:xfrm>
            <a:off x="7666684" y="6169580"/>
            <a:ext cx="288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斜めに立てた画像</a:t>
            </a:r>
            <a:endParaRPr kumimoji="1" lang="ja-JP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5450278-CD8C-5C1A-70D2-52FD94EB8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21353" y="3499342"/>
            <a:ext cx="4526280" cy="2546033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AAFD62C-5D81-41A8-2C73-C0247527E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844369" y="3499341"/>
            <a:ext cx="4526281" cy="254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3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217F73-BB55-383C-99EE-AC1E0E1AB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試験結果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E86E45-DFC3-506A-D5F4-9E1D52855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72A6148-7358-9334-F2CF-2E420150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373BD-FC6B-444D-A94B-9C28113BFCF8}" type="slidenum">
              <a:rPr kumimoji="1" lang="ja-JP" altLang="en-US" smtClean="0"/>
              <a:t>3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39951CF5-D579-6AA2-DA31-FDB26A38F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407854"/>
              </p:ext>
            </p:extLst>
          </p:nvPr>
        </p:nvGraphicFramePr>
        <p:xfrm>
          <a:off x="950829" y="2255520"/>
          <a:ext cx="10244222" cy="44659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62044">
                  <a:extLst>
                    <a:ext uri="{9D8B030D-6E8A-4147-A177-3AD203B41FA5}">
                      <a16:colId xmlns:a16="http://schemas.microsoft.com/office/drawing/2014/main" val="3362978446"/>
                    </a:ext>
                  </a:extLst>
                </a:gridCol>
                <a:gridCol w="1760726">
                  <a:extLst>
                    <a:ext uri="{9D8B030D-6E8A-4147-A177-3AD203B41FA5}">
                      <a16:colId xmlns:a16="http://schemas.microsoft.com/office/drawing/2014/main" val="1005974728"/>
                    </a:ext>
                  </a:extLst>
                </a:gridCol>
                <a:gridCol w="1760726">
                  <a:extLst>
                    <a:ext uri="{9D8B030D-6E8A-4147-A177-3AD203B41FA5}">
                      <a16:colId xmlns:a16="http://schemas.microsoft.com/office/drawing/2014/main" val="511314604"/>
                    </a:ext>
                  </a:extLst>
                </a:gridCol>
                <a:gridCol w="1760726">
                  <a:extLst>
                    <a:ext uri="{9D8B030D-6E8A-4147-A177-3AD203B41FA5}">
                      <a16:colId xmlns:a16="http://schemas.microsoft.com/office/drawing/2014/main" val="2521693453"/>
                    </a:ext>
                  </a:extLst>
                </a:gridCol>
              </a:tblGrid>
              <a:tr h="3028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book_name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2mm未満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2mm以上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認識失敗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Noto Sans CJK SC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52430008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TransForm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60.0%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30.0%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10.0%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25915257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Target XL®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40.0%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40.0%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20.0%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77127810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 dirty="0">
                          <a:effectLst/>
                        </a:rPr>
                        <a:t>Synchro SELECT</a:t>
                      </a:r>
                      <a:endParaRPr lang="ja-JP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100.0%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34298748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Eccelsior® XT-27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40.0%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50.0%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10.0%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5083132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Surpass Evolve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50.0%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50.0%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60983120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AXS Vecta® 46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80.0%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20.0%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58658840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pNOVUS 17 Microcatheter 150cm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70.0%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10.0%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20.0%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44968558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Medtronic Phenom 21 Catheter 160cm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50.0%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20.0%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30.0%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8979896"/>
                  </a:ext>
                </a:extLst>
              </a:tr>
              <a:tr h="372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 dirty="0">
                          <a:effectLst/>
                        </a:rPr>
                        <a:t>Medtronic Riptide Large Bore</a:t>
                      </a:r>
                      <a:endParaRPr lang="ja-JP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40.0%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40.0%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20.0%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19113281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stryker UPN: M00345100950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60.0%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 dirty="0">
                          <a:effectLst/>
                        </a:rPr>
                        <a:t>40.0%</a:t>
                      </a:r>
                      <a:endParaRPr 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51625739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全体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Noto Sans CJK SC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53.0%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32.0%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 dirty="0">
                          <a:effectLst/>
                        </a:rPr>
                        <a:t>15.0%</a:t>
                      </a:r>
                      <a:endParaRPr lang="ja-JP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33507942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8D2FCE10-05C8-E6C0-131B-0A9CBB22B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4694"/>
              </p:ext>
            </p:extLst>
          </p:nvPr>
        </p:nvGraphicFramePr>
        <p:xfrm>
          <a:off x="950828" y="1200149"/>
          <a:ext cx="10213543" cy="935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7062">
                  <a:extLst>
                    <a:ext uri="{9D8B030D-6E8A-4147-A177-3AD203B41FA5}">
                      <a16:colId xmlns:a16="http://schemas.microsoft.com/office/drawing/2014/main" val="885892102"/>
                    </a:ext>
                  </a:extLst>
                </a:gridCol>
                <a:gridCol w="1725930">
                  <a:extLst>
                    <a:ext uri="{9D8B030D-6E8A-4147-A177-3AD203B41FA5}">
                      <a16:colId xmlns:a16="http://schemas.microsoft.com/office/drawing/2014/main" val="2615406905"/>
                    </a:ext>
                  </a:extLst>
                </a:gridCol>
                <a:gridCol w="1725930">
                  <a:extLst>
                    <a:ext uri="{9D8B030D-6E8A-4147-A177-3AD203B41FA5}">
                      <a16:colId xmlns:a16="http://schemas.microsoft.com/office/drawing/2014/main" val="2237643598"/>
                    </a:ext>
                  </a:extLst>
                </a:gridCol>
                <a:gridCol w="1734621">
                  <a:extLst>
                    <a:ext uri="{9D8B030D-6E8A-4147-A177-3AD203B41FA5}">
                      <a16:colId xmlns:a16="http://schemas.microsoft.com/office/drawing/2014/main" val="2944906223"/>
                    </a:ext>
                  </a:extLst>
                </a:gridCol>
              </a:tblGrid>
              <a:tr h="4678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Noto Sans CJK SC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誤差 ＜ </a:t>
                      </a:r>
                      <a:r>
                        <a:rPr lang="en-US" altLang="ja-JP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2㎜</a:t>
                      </a:r>
                      <a:endParaRPr 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誤差 ≧ </a:t>
                      </a:r>
                      <a:r>
                        <a:rPr lang="en-US" altLang="ja-JP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2㎜</a:t>
                      </a:r>
                      <a:endParaRPr lang="ja-JP" alt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000" b="1" u="none" strike="noStrike" dirty="0">
                          <a:effectLst/>
                        </a:rPr>
                        <a:t>認識失敗</a:t>
                      </a:r>
                      <a:endParaRPr 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8233765"/>
                  </a:ext>
                </a:extLst>
              </a:tr>
              <a:tr h="4678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件数</a:t>
                      </a:r>
                      <a:endParaRPr 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Noto Sans CJK SC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</a:t>
                      </a:r>
                      <a:endParaRPr 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  <a:endParaRPr 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3796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44046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認識パイプライン — 全11工程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804672"/>
          <a:ext cx="11686032" cy="5486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989320"/>
                <a:gridCol w="2404872"/>
                <a:gridCol w="822960"/>
              </a:tblGrid>
              <a:tr h="42203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Yu Gothic UI"/>
                        </a:rPr>
                        <a:t>工程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Yu Gothic UI"/>
                        </a:rPr>
                        <a:t>処理内容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Yu Gothic UI"/>
                        </a:rPr>
                        <a:t>対応コード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Yu Gothic UI"/>
                        </a:rPr>
                        <a:t>調査結果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撮影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 UI"/>
                        </a:rPr>
                        <a:t>RealSense D435iでRGB画像＋Depthを取得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66666"/>
                          </a:solidFill>
                          <a:latin typeface="Calibri"/>
                        </a:rPr>
                        <a:t>capture_burst.py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/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① OCR開始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 UI"/>
                        </a:rPr>
                        <a:t>文字認識を非同期で開始（SAM2と並行実行）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66666"/>
                          </a:solidFill>
                          <a:latin typeface="Calibri"/>
                        </a:rPr>
                        <a:t>only_one_tilted.py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/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② SAM2実行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 UI"/>
                        </a:rPr>
                        <a:t>グリッドサンプリングで候補マスクを多数生成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66666"/>
                          </a:solidFill>
                          <a:latin typeface="Calibri"/>
                        </a:rPr>
                        <a:t>infer_for_storage.py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/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③ OCR待機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 UI"/>
                        </a:rPr>
                        <a:t>OCR結果を取得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6666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/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④ マスク選択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 UI"/>
                        </a:rPr>
                        <a:t>OCR文字とSAMマスクをIoUで対応付け、fuzzスコア最大のマスクを採用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66666"/>
                          </a:solidFill>
                          <a:latin typeface="Calibri"/>
                        </a:rPr>
                        <a:t>match_book_name()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 UI"/>
                        </a:rPr>
                        <a:t>①原因</a:t>
                      </a:r>
                    </a:p>
                  </a:txBody>
                  <a:tcPr anchor="ctr" marL="101600" marR="101600" marT="50800" marB="50800">
                    <a:solidFill>
                      <a:srgbClr val="C00000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⑤ 深度フィルタ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 UI"/>
                        </a:rPr>
                        <a:t>背表紙深度中央値±30mmでマスクを絞り込み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66666"/>
                          </a:solidFill>
                          <a:latin typeface="Calibri"/>
                        </a:rPr>
                        <a:t>save_masked_and_cropped()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 UI"/>
                        </a:rPr>
                        <a:t>斜め影響</a:t>
                      </a:r>
                    </a:p>
                  </a:txBody>
                  <a:tcPr anchor="ctr" marL="101600" marR="101600" marT="50800" marB="50800">
                    <a:solidFill>
                      <a:srgbClr val="ED7D31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⑥ 背表紙帯補完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 UI"/>
                        </a:rPr>
                        <a:t>深度フィルタで削れた背表紙中心帯を復元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66666"/>
                          </a:solidFill>
                          <a:latin typeface="Calibri"/>
                        </a:rPr>
                        <a:t>complete_spine_band_after_depth_prefilter()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 UI"/>
                        </a:rPr>
                        <a:t>斜め影響</a:t>
                      </a:r>
                    </a:p>
                  </a:txBody>
                  <a:tcPr anchor="ctr" marL="101600" marR="101600" marT="50800" marB="50800">
                    <a:solidFill>
                      <a:srgbClr val="ED7D31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⑦ 長方形判定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 UI"/>
                        </a:rPr>
                        <a:t>マスク形状を判定し、M1/M2の分岐を決定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66666"/>
                          </a:solidFill>
                          <a:latin typeface="Calibri"/>
                        </a:rPr>
                        <a:t>analyze_mask_rectangularity()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 UI"/>
                        </a:rPr>
                        <a:t>斜め影響</a:t>
                      </a:r>
                    </a:p>
                  </a:txBody>
                  <a:tcPr anchor="ctr" marL="101600" marR="101600" marT="50800" marB="50800">
                    <a:solidFill>
                      <a:srgbClr val="ED7D31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⑧ 側面除去リファイン（M1のみ）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 UI"/>
                        </a:rPr>
                        <a:t>OCR軸帯・列長さ・t幅クリップで側面を追加除去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66666"/>
                          </a:solidFill>
                          <a:latin typeface="Calibri"/>
                        </a:rPr>
                        <a:t>refine_mask_by_spine_column_length_after_depth() 他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 UI"/>
                        </a:rPr>
                        <a:t>②原因</a:t>
                      </a:r>
                    </a:p>
                  </a:txBody>
                  <a:tcPr anchor="ctr" marL="101600" marR="101600" marT="50800" marB="50800">
                    <a:solidFill>
                      <a:srgbClr val="5B9BD5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⑨ 点群化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 UI"/>
                        </a:rPr>
                        <a:t>マスク＋深度から3D点群を生成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66666"/>
                          </a:solidFill>
                          <a:latin typeface="Calibri"/>
                        </a:rPr>
                        <a:t>calculate_yaw()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/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⑩ 幅推定計算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 UI"/>
                        </a:rPr>
                        <a:t>M1(px幅→距離変換) または M2(点群PCAスライス)で開口幅を算出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66666"/>
                          </a:solidFill>
                          <a:latin typeface="Calibri"/>
                        </a:rPr>
                        <a:t>estimate_book_width_from_filtered_mask_axis() 等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 UI"/>
                        </a:rPr>
                        <a:t>②原因</a:t>
                      </a:r>
                    </a:p>
                  </a:txBody>
                  <a:tcPr anchor="ctr" marL="101600" marR="101600" marT="50800" marB="50800">
                    <a:solidFill>
                      <a:srgbClr val="5B9BD5"/>
                    </a:solidFill>
                  </a:tcPr>
                </a:tc>
              </a:tr>
              <a:tr h="42203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⑪ 結果保存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 UI"/>
                        </a:rPr>
                        <a:t>開口幅・把持点をJSON/CSVへ保存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66666"/>
                          </a:solidFill>
                          <a:latin typeface="Calibri"/>
                        </a:rPr>
                        <a:t>pca_result.json</a:t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/>
                      </a:r>
                    </a:p>
                  </a:txBody>
                  <a:tcPr anchor="ctr" marL="101600" marR="101600" marT="50800" marB="50800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336792"/>
            <a:ext cx="8625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u Gothic UI"/>
              </a:rPr>
              <a:t>①原因=マスク選択の欠陥(stryker/fail 15件)　②原因=最終幅計算の不安定性(Eccelsior/Riptide)　斜め影響=index 51-100で悪化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誤差追跡手法：3つのチェックポイント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12121"/>
                </a:solidFill>
                <a:latin typeface="Yu Gothic UI"/>
              </a:rPr>
              <a:t>■ 画像を目視せず、パイプラインが自動保存するログ／デバッグ画像だけから各工程時点の幅を再計算した。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727" y="16002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3727" y="1600200"/>
            <a:ext cx="3383280" cy="384048"/>
          </a:xfrm>
          <a:prstGeom prst="roundRect">
            <a:avLst>
              <a:gd name="adj" fmla="val 6000"/>
            </a:avLst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165506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誤差0 · 生マスク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20574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D7D31"/>
                </a:solidFill>
                <a:latin typeface="Calibri"/>
              </a:rPr>
              <a:t>工程④直後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23774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12121"/>
                </a:solidFill>
                <a:latin typeface="Yu Gothic UI"/>
              </a:rPr>
              <a:t>SAM2＋OCRで選ばれた直後、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12121"/>
                </a:solidFill>
                <a:latin typeface="Yu Gothic UI"/>
              </a:rPr>
              <a:t>深度フィルタより前のマスク幅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4439" y="2286000"/>
            <a:ext cx="402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207" y="16002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4207" y="1600200"/>
            <a:ext cx="3383280" cy="384048"/>
          </a:xfrm>
          <a:prstGeom prst="roundRect">
            <a:avLst>
              <a:gd name="adj" fmla="val 6000"/>
            </a:avLst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7087" y="165506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誤差1 · 整形後マスク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087" y="20574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D7D31"/>
                </a:solidFill>
                <a:latin typeface="Calibri"/>
              </a:rPr>
              <a:t>工程⑦直後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087" y="23774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12121"/>
                </a:solidFill>
                <a:latin typeface="Yu Gothic UI"/>
              </a:rPr>
              <a:t>深度フィルタ＋背表紙帯補完＋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12121"/>
                </a:solidFill>
                <a:latin typeface="Yu Gothic UI"/>
              </a:rPr>
              <a:t>長方形判定を経た、工程⑧/⑩に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12121"/>
                </a:solidFill>
                <a:latin typeface="Yu Gothic UI"/>
              </a:rPr>
              <a:t>かける直前のマスク幅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4919" y="2286000"/>
            <a:ext cx="402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4687" y="16002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44687" y="1600200"/>
            <a:ext cx="3383280" cy="384048"/>
          </a:xfrm>
          <a:prstGeom prst="roundRect">
            <a:avLst>
              <a:gd name="adj" fmla="val 6000"/>
            </a:avLst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7567" y="165506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誤差2 · 最終出力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7567" y="20574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D7D31"/>
                </a:solidFill>
                <a:latin typeface="Calibri"/>
              </a:rPr>
              <a:t>工程⑩〜⑪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7567" y="23774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12121"/>
                </a:solidFill>
                <a:latin typeface="Yu Gothic UI"/>
              </a:rPr>
              <a:t>M1(工程⑧⑩) または M2(工程⑩)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12121"/>
                </a:solidFill>
                <a:latin typeface="Yu Gothic UI"/>
              </a:rPr>
              <a:t>が実際に出した幅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794760"/>
            <a:ext cx="11368735" cy="1371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59352"/>
            <a:ext cx="108200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121"/>
                </a:solidFill>
                <a:latin typeface="Yu Gothic UI"/>
              </a:rPr>
              <a:t>誤差1が既に大きい書籍 → 工程②〜⑦（マスク選択〜長方形判定）を疑う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121"/>
                </a:solidFill>
                <a:latin typeface="Yu Gothic UI"/>
              </a:rPr>
              <a:t>誤差1は正常なのに誤差2だけ跳ねる書籍 → 工程⑧・⑩（M1の側面除去リファイン／最終計算）を疑う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121"/>
                </a:solidFill>
                <a:latin typeface="Yu Gothic UI"/>
              </a:rPr>
              <a:t>この切り分けにより、32件の誤差2mm以上ケースを「①マスク選択が原因」「②最終計算が原因」「③複合」に分類した。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誤差2mm以上 32件の内訳 — 書籍別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024128"/>
          <a:ext cx="11368735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5824728"/>
            <a:ext cx="113687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  <a:latin typeface="Yu Gothic UI"/>
              </a:rPr>
              <a:t>例: マスク選択が原因の14件中5件がstryker。最終計算が原因の9件はEccelsior®(3件)を筆頭に複数書籍に分散。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斜め配置（index 51-100）の影響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Yu Gothic UI"/>
              </a:rPr>
              <a:t>■ index 1-50は詰めて配置、51-100はわざと斜めに配置。斜めにすると側面が見え、それがマスクに巻き込まれる可能性を検証した。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547" y="1554480"/>
            <a:ext cx="4145280" cy="23317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67" y="1554480"/>
            <a:ext cx="4145280" cy="2331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3977639"/>
            <a:ext cx="55014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12121"/>
                </a:solidFill>
                <a:latin typeface="Yu Gothic UI"/>
              </a:rPr>
              <a:t>index 1-50（詰めて配置）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3977639"/>
            <a:ext cx="55014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12121"/>
                </a:solidFill>
                <a:latin typeface="Yu Gothic UI"/>
              </a:rPr>
              <a:t>index 51-100（斜め配置・側面が見える）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4434840"/>
          <a:ext cx="1127455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645920"/>
                <a:gridCol w="322783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121"/>
                          </a:solidFill>
                          <a:latin typeface="Yu Gothic UI"/>
                        </a:rPr>
                        <a:t/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Yu Gothic UI"/>
                        </a:rPr>
                        <a:t>誤差&lt;2mm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Yu Gothic UI"/>
                        </a:rPr>
                        <a:t>誤差≥2mm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Yu Gothic UI"/>
                        </a:rPr>
                        <a:t>認識失敗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Yu Gothic UI"/>
                        </a:rPr>
                        <a:t>root_cause: マスク選択/複合の割合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index 1-50（詰めて配置）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32件 (64%)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13件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5件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46%  (mask+both 7/13)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Yu Gothic UI"/>
                        </a:rPr>
                        <a:t>index 51-100（斜め配置）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Yu Gothic UI"/>
                        </a:rPr>
                        <a:t>21件 (42%)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Yu Gothic UI"/>
                        </a:rPr>
                        <a:t>19件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Yu Gothic UI"/>
                        </a:rPr>
                        <a:t>10件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Yu Gothic UI"/>
                        </a:rPr>
                        <a:t>84%  (mask+both 16/19)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5943600"/>
            <a:ext cx="11368735" cy="68580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62472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12121"/>
                </a:solidFill>
                <a:latin typeface="Yu Gothic UI"/>
              </a:rPr>
              <a:t>斜め配置は認識失敗率がほぼ2倍（5→10件）。原因内訳も「マスク選択(入口)側」に大きく偏る（46%→84%）。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12121"/>
                </a:solidFill>
                <a:latin typeface="Yu Gothic UI"/>
              </a:rPr>
              <a:t>ただしstrykerとEccelsior®は両グループでほぼ同程度に悪く、斜め単独の問題ではない（工程④・⑧側の欠陥が別に存在）。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原因特定① マスク選択（工程④）の欠陥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3687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Yu Gothic UI"/>
              </a:rPr>
              <a:t>■ match_book_name()（工程④）はfuzz.partial_ratioでOCR文字とマスクを対応付けるが、マスクの大きさ・完全性を一切見ない。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Yu Gothic UI"/>
              </a:rPr>
              <a:t>■ 短い文字列がクエリの一部と完全一致すると機械的にスコア100になり、ノイズを含む正解全文より高評価されることがある。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920240"/>
            <a:ext cx="11368735" cy="23317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4825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9C3C8"/>
                </a:solidFill>
                <a:latin typeface="Calibri"/>
              </a:rPr>
              <a:t>Test 29（Medtronic Riptide）のマッチングスコア  ·  similarity_scores.json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59152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C7CFD3"/>
                </a:solidFill>
                <a:latin typeface="Calibri"/>
              </a:rPr>
              <a:t>クエリ: "Medtronic Riptide Large Bore Aspiration Tubing REF MAT-110-110 112(284cm)"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C7CFD3"/>
                </a:solidFill>
                <a:latin typeface="Calibri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50" b="1">
                <a:solidFill>
                  <a:srgbClr val="FF8A80"/>
                </a:solidFill>
                <a:latin typeface="Calibri"/>
              </a:rPr>
              <a:t>mask_20   score 100   text: "Medtronic"                    ← 採用</a:t>
            </a:r>
          </a:p>
          <a:p>
            <a:pPr>
              <a:lnSpc>
                <a:spcPct val="115000"/>
              </a:lnSpc>
            </a:pPr>
            <a:r>
              <a:rPr sz="1150" b="1">
                <a:solidFill>
                  <a:srgbClr val="FF8A80"/>
                </a:solidFill>
                <a:latin typeface="Calibri"/>
              </a:rPr>
              <a:t>           マスク面積:  824 px（本来の約1/25）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C7CFD3"/>
                </a:solidFill>
                <a:latin typeface="Calibri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81E68E"/>
                </a:solidFill>
                <a:latin typeface="Calibri"/>
              </a:rPr>
              <a:t>mask_16   score  94   text: "Medtronic RiptideLargeBore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81E68E"/>
                </a:solidFill>
                <a:latin typeface="Calibri"/>
              </a:rPr>
              <a:t>          AspirationTubl REF MAT-110-110 112"（284cm）"  ← 本来の正解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81E68E"/>
                </a:solidFill>
                <a:latin typeface="Calibri"/>
              </a:rPr>
              <a:t>           マスク面積: 20,536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361688"/>
            <a:ext cx="113687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66666"/>
                </a:solidFill>
                <a:latin typeface="Yu Gothic UI"/>
              </a:rPr>
              <a:t>同型のバグはfail 15件中の複数ケース（#28, #11, #99）でも確認済み。strykerの「常に約2倍」問題も同一バグに由来。</a:t>
            </a:r>
          </a:p>
        </p:txBody>
      </p:sp>
      <p:pic>
        <p:nvPicPr>
          <p:cNvPr id="8" name="Picture 7" descr="mask_overflow_eccelsi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147" y="4754880"/>
            <a:ext cx="2519680" cy="1417320"/>
          </a:xfrm>
          <a:prstGeom prst="rect">
            <a:avLst/>
          </a:prstGeom>
        </p:spPr>
      </p:pic>
      <p:pic>
        <p:nvPicPr>
          <p:cNvPr id="9" name="Picture 8" descr="mask_ok_ript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67" y="4754880"/>
            <a:ext cx="251968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537960"/>
            <a:ext cx="113687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12121"/>
                </a:solidFill>
                <a:latin typeface="Yu Gothic UI"/>
              </a:rPr>
              <a:t>参考：マスクが対象箱からはみ出す例（左）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原因特定② 最終計算（工程⑧⑩）の不安定性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Yu Gothic UI"/>
              </a:rPr>
              <a:t>■ マスクは正常に選ばれているのに、estimate_book_width_from_filtered_mask_axis()の結果だけが暴れるケース。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Yu Gothic UI"/>
              </a:rPr>
              <a:t>■ 軸・中心点が工程⑧の結果を使い回され、外れ値に弱い一括パーセンタイル計算を使っているため。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2011680"/>
          <a:ext cx="1136599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017520"/>
                <a:gridCol w="2468880"/>
                <a:gridCol w="2286000"/>
                <a:gridCol w="2587752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ケース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書籍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誤差1（マスク段階）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誤差2（最終）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212121"/>
                          </a:solidFill>
                          <a:latin typeface="Yu Gothic UI"/>
                        </a:rPr>
                        <a:t>増減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#89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Medtronic Riptide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70AD47"/>
                          </a:solidFill>
                          <a:latin typeface="Yu Gothic UI"/>
                        </a:rPr>
                        <a:t>+1.8mm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00000"/>
                          </a:solidFill>
                          <a:latin typeface="Yu Gothic UI"/>
                        </a:rPr>
                        <a:t>+53.4mm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00000"/>
                          </a:solidFill>
                          <a:latin typeface="Yu Gothic UI"/>
                        </a:rPr>
                        <a:t>+51.7mm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#64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Eccelsior® XT-27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70AD47"/>
                          </a:solidFill>
                          <a:latin typeface="Yu Gothic UI"/>
                        </a:rPr>
                        <a:t>+4.4mm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00000"/>
                          </a:solidFill>
                          <a:latin typeface="Yu Gothic UI"/>
                        </a:rPr>
                        <a:t>+46.8mm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00000"/>
                          </a:solidFill>
                          <a:latin typeface="Yu Gothic UI"/>
                        </a:rPr>
                        <a:t>+42.4mm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#54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Eccelsior® XT-27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70AD47"/>
                          </a:solidFill>
                          <a:latin typeface="Yu Gothic UI"/>
                        </a:rPr>
                        <a:t>+1.0mm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00000"/>
                          </a:solidFill>
                          <a:latin typeface="Yu Gothic UI"/>
                        </a:rPr>
                        <a:t>+24.1mm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00000"/>
                          </a:solidFill>
                          <a:latin typeface="Yu Gothic UI"/>
                        </a:rPr>
                        <a:t>+23.0mm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#34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Eccelsior® XT-27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70AD47"/>
                          </a:solidFill>
                          <a:latin typeface="Yu Gothic UI"/>
                        </a:rPr>
                        <a:t>+42.8mm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C00000"/>
                          </a:solidFill>
                          <a:latin typeface="Yu Gothic UI"/>
                        </a:rPr>
                        <a:t>+9.2mm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70AD47"/>
                          </a:solidFill>
                          <a:latin typeface="Yu Gothic UI"/>
                        </a:rPr>
                        <a:t>-33.6mm（改善）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114800"/>
            <a:ext cx="113687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66666"/>
                </a:solidFill>
                <a:latin typeface="Yu Gothic UI"/>
              </a:rPr>
              <a:t>増減の符号・大きさに一貫性がない＝系統的バイアスではなく計算方式そのものの不安定性。</a:t>
            </a:r>
          </a:p>
        </p:txBody>
      </p:sp>
      <p:pic>
        <p:nvPicPr>
          <p:cNvPr id="6" name="Picture 5" descr="mask_ok_ript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467" y="4617720"/>
            <a:ext cx="3007360" cy="1691640"/>
          </a:xfrm>
          <a:prstGeom prst="rect">
            <a:avLst/>
          </a:prstGeom>
        </p:spPr>
      </p:pic>
      <p:pic>
        <p:nvPicPr>
          <p:cNvPr id="7" name="Picture 6" descr="mask_ok_targetx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67" y="4617720"/>
            <a:ext cx="3007360" cy="1691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00800"/>
            <a:ext cx="113687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12121"/>
                </a:solidFill>
                <a:latin typeface="Yu Gothic UI"/>
              </a:rPr>
              <a:t>マスクは正常に貼られている例（それでも最終推定値がずれた）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32688"/>
          <a:ext cx="1122883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828800"/>
                <a:gridCol w="3291840"/>
                <a:gridCol w="2724912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Yu Gothic UI"/>
                        </a:rPr>
                        <a:t>書籍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Yu Gothic UI"/>
                        </a:rPr>
                        <a:t>誤差 &lt;2mm 率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Yu Gothic UI"/>
                        </a:rPr>
                        <a:t>根本原因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Yu Gothic UI"/>
                        </a:rPr>
                        <a:t>斜め配置での悪化</a:t>
                      </a:r>
                    </a:p>
                  </a:txBody>
                  <a:tcPr anchor="ctr" marL="101600" marR="101600" marT="50800" marB="50800">
                    <a:solidFill>
                      <a:srgbClr val="E7E6E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stryker UPN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0%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①マスク選択（入口）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変化なし（両方で悪い）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Eccelsior® XT-27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40%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②最終計算（出口）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変化なし（両方で悪い）</a:t>
                      </a:r>
                    </a:p>
                  </a:txBody>
                  <a:tcPr anchor="ctr" marL="101600" marR="101600" marT="50800" marB="50800">
                    <a:solidFill>
                      <a:srgbClr val="FBE5D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Medtronic Riptide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40%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①②混在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やや悪化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Surpass Evolve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50%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①マスク選択（斜めで顕著）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強い悪化（4/5→1/5 good）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Target XL®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40%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①②混在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強い悪化（3/5→1/5 good）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pNOVUS 17 / Phenom21 / AXS Vecta®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50-80%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斜め配置時のみ悪化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悪化あり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TransForm / Synchro SELECT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60-100%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ほぼ問題なし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2121"/>
                          </a:solidFill>
                          <a:latin typeface="Yu Gothic UI"/>
                        </a:rPr>
                        <a:t>ほぼ影響なし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473952"/>
            <a:ext cx="113687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captures/100test_offline/20260708_203730 ／ stage_width_trace.py・raw_mask_width_check.py・analyze_width_error.py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改善案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3687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12121"/>
                </a:solidFill>
                <a:latin typeface="Yu Gothic UI"/>
              </a:rPr>
              <a:t>■ 工程④ マスク選択のスコアリング改修（マスクサイズ・被覆率を加味し、断片一致の過大評価を防ぐ）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12121"/>
                </a:solidFill>
                <a:latin typeface="Yu Gothic UI"/>
              </a:rPr>
              <a:t>■ 工程⑧・⑩ 最終幅計算をスライス中央値方式に変更し、外れ値に強くする。軸・中心点も工程⑩で再計算する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12121"/>
                </a:solidFill>
                <a:latin typeface="Yu Gothic UI"/>
              </a:rPr>
              <a:t>■ 工程②〜⑦ 斜め配置時に側面を誤って含めないよう、カメラ位置を前に寄せる／マスク形状判定を見直す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12121"/>
                </a:solidFill>
                <a:latin typeface="Yu Gothic UI"/>
              </a:rPr>
              <a:t>■ 文字サイズが小さい書籍（Target XL®等）はOCR認識率自体の底上げも検討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3566160"/>
            <a:ext cx="11368735" cy="14630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749040"/>
            <a:ext cx="108200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12121"/>
                </a:solidFill>
                <a:latin typeface="Yu Gothic UI"/>
              </a:rPr>
              <a:t>現在地：100ケース評価・11工程トレース手法の確立、3書籍＋fail15件の根本原因をコードレベルで特定済み。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12121"/>
                </a:solidFill>
                <a:latin typeface="Yu Gothic UI"/>
              </a:rPr>
              <a:t>修正は未着手。次の一手は工程④のスコアリング改修と工程⑩のスライス中央値化が最有力候補。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3687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captures/100test_offline/20260708_203730 ／ 井坂玄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Calibri"/>
        <a:ea typeface="Yu Gothic UI"/>
        <a:cs typeface=""/>
      </a:majorFont>
      <a:minorFont>
        <a:latin typeface="Calibr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  <a:ln>
          <a:noFill/>
        </a:ln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raiLab" id="{BF01C95A-CBB5-4D50-A264-C1694BD51B51}" vid="{BEA7A36C-C730-439A-86D5-3D951327B931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AraiLab</Template>
  <TotalTime>1052</TotalTime>
  <Words>280</Words>
  <Application>Microsoft Office PowerPoint</Application>
  <PresentationFormat>ワイド画面</PresentationFormat>
  <Paragraphs>96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8</vt:i4>
      </vt:variant>
    </vt:vector>
  </HeadingPairs>
  <TitlesOfParts>
    <vt:vector size="17" baseType="lpstr">
      <vt:lpstr>Noto Sans CJK SC</vt:lpstr>
      <vt:lpstr>Yu Gothic UI</vt:lpstr>
      <vt:lpstr>游ゴシック</vt:lpstr>
      <vt:lpstr>游ゴシック Light</vt:lpstr>
      <vt:lpstr>Arial</vt:lpstr>
      <vt:lpstr>Calibri</vt:lpstr>
      <vt:lpstr>Wingdings</vt:lpstr>
      <vt:lpstr>2_Office テーマ</vt:lpstr>
      <vt:lpstr>デザインの設定</vt:lpstr>
      <vt:lpstr>カテーテルゼミ資料</vt:lpstr>
      <vt:lpstr>試験概要</vt:lpstr>
      <vt:lpstr>試験結果</vt:lpstr>
      <vt:lpstr>計算工程</vt:lpstr>
      <vt:lpstr>PowerPoint プレゼンテーション</vt:lpstr>
      <vt:lpstr>原因特定</vt:lpstr>
      <vt:lpstr>認識失敗原因</vt:lpstr>
      <vt:lpstr>改善案，原因特定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井坂玄</dc:creator>
  <cp:lastModifiedBy>井坂　玄</cp:lastModifiedBy>
  <cp:revision>4</cp:revision>
  <cp:lastPrinted>2026-07-07T05:15:02Z</cp:lastPrinted>
  <dcterms:created xsi:type="dcterms:W3CDTF">2026-04-09T23:13:33Z</dcterms:created>
  <dcterms:modified xsi:type="dcterms:W3CDTF">2026-07-09T23:33:55Z</dcterms:modified>
</cp:coreProperties>
</file>